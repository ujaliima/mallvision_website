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mbria" charset="1" panose="02040503050406030204"/>
      <p:regular r:id="rId21"/>
    </p:embeddedFont>
    <p:embeddedFont>
      <p:font typeface="Cambria Bold" charset="1" panose="02040803050406030204"/>
      <p:regular r:id="rId22"/>
    </p:embeddedFont>
    <p:embeddedFont>
      <p:font typeface="Calibri (MS) Bold" charset="1" panose="020F0702030404030204"/>
      <p:regular r:id="rId23"/>
    </p:embeddedFont>
    <p:embeddedFont>
      <p:font typeface="Calibri (MS)" charset="1" panose="020F0502020204030204"/>
      <p:regular r:id="rId24"/>
    </p:embeddedFont>
    <p:embeddedFont>
      <p:font typeface="Arimo Bold" charset="1" panose="020B0704020202020204"/>
      <p:regular r:id="rId28"/>
    </p:embeddedFont>
    <p:embeddedFont>
      <p:font typeface="Arial Bold" charset="1" panose="020B0704020202020204"/>
      <p:regular r:id="rId30"/>
    </p:embeddedFont>
    <p:embeddedFont>
      <p:font typeface="Radley Italics" charset="1" panose="000005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jpeg" Type="http://schemas.openxmlformats.org/officeDocument/2006/relationships/image"/><Relationship Id="rId6" Target="../media/VAG9fAq2stQ.mp4" Type="http://schemas.openxmlformats.org/officeDocument/2006/relationships/video"/><Relationship Id="rId7" Target="../media/VAG9fAq2stQ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1.jpe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20.png" Type="http://schemas.openxmlformats.org/officeDocument/2006/relationships/image"/><Relationship Id="rId16" Target="../media/image21.sv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1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1.jpe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1.jpeg" Type="http://schemas.openxmlformats.org/officeDocument/2006/relationships/image"/><Relationship Id="rId5" Target="../media/image2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0.png" Type="http://schemas.openxmlformats.org/officeDocument/2006/relationships/image"/><Relationship Id="rId17" Target="../media/image21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.jpe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1.jpeg" Type="http://schemas.openxmlformats.org/officeDocument/2006/relationships/image"/><Relationship Id="rId5" Target="../media/image26.pn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1.jpeg" Type="http://schemas.openxmlformats.org/officeDocument/2006/relationships/image"/><Relationship Id="rId5" Target="../media/image2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0.png" Type="http://schemas.openxmlformats.org/officeDocument/2006/relationships/image"/><Relationship Id="rId16" Target="../media/image21.sv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1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1.jpeg" Type="http://schemas.openxmlformats.org/officeDocument/2006/relationships/image"/><Relationship Id="rId5" Target="../media/image2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1.jpeg" Type="http://schemas.openxmlformats.org/officeDocument/2006/relationships/image"/><Relationship Id="rId5" Target="../media/image2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0.png" Type="http://schemas.openxmlformats.org/officeDocument/2006/relationships/image"/><Relationship Id="rId17" Target="../media/image21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.jpe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.jpe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52715" y="9739312"/>
            <a:ext cx="1020985" cy="547688"/>
            <a:chOff x="0" y="0"/>
            <a:chExt cx="1361313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1316" cy="730250"/>
            </a:xfrm>
            <a:custGeom>
              <a:avLst/>
              <a:gdLst/>
              <a:ahLst/>
              <a:cxnLst/>
              <a:rect r="r" b="b" t="t" l="l"/>
              <a:pathLst>
                <a:path h="730250" w="1361316">
                  <a:moveTo>
                    <a:pt x="0" y="0"/>
                  </a:moveTo>
                  <a:lnTo>
                    <a:pt x="1361316" y="0"/>
                  </a:lnTo>
                  <a:lnTo>
                    <a:pt x="136131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825" t="0" r="-18825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361313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‹#›</a:t>
              </a:r>
            </a:p>
          </p:txBody>
        </p:sp>
      </p:grpSp>
      <p:sp>
        <p:nvSpPr>
          <p:cNvPr name="Freeform 5" id="5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9440" r="-25684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21940" y="9841601"/>
            <a:ext cx="1417320" cy="33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1/3/26</a:t>
            </a:r>
          </a:p>
        </p:txBody>
      </p:sp>
      <p:sp>
        <p:nvSpPr>
          <p:cNvPr name="Freeform 7" id="7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9440" r="-256844" b="0"/>
            </a:stretch>
          </a:blipFill>
        </p:spPr>
      </p:sp>
      <p:sp>
        <p:nvSpPr>
          <p:cNvPr name="Freeform 8" id="8" descr="Picture1"/>
          <p:cNvSpPr/>
          <p:nvPr/>
        </p:nvSpPr>
        <p:spPr>
          <a:xfrm flipH="false" flipV="false" rot="0">
            <a:off x="6858" y="0"/>
            <a:ext cx="22084589" cy="10911392"/>
          </a:xfrm>
          <a:custGeom>
            <a:avLst/>
            <a:gdLst/>
            <a:ahLst/>
            <a:cxnLst/>
            <a:rect r="r" b="b" t="t" l="l"/>
            <a:pathLst>
              <a:path h="10911392" w="22084589">
                <a:moveTo>
                  <a:pt x="0" y="0"/>
                </a:moveTo>
                <a:lnTo>
                  <a:pt x="22084589" y="0"/>
                </a:lnTo>
                <a:lnTo>
                  <a:pt x="22084589" y="10911392"/>
                </a:lnTo>
                <a:lnTo>
                  <a:pt x="0" y="109113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038" t="-14160" r="17038" b="314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67214" y="160973"/>
            <a:ext cx="17153573" cy="3075622"/>
            <a:chOff x="0" y="0"/>
            <a:chExt cx="22871430" cy="41008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71430" cy="4100830"/>
            </a:xfrm>
            <a:custGeom>
              <a:avLst/>
              <a:gdLst/>
              <a:ahLst/>
              <a:cxnLst/>
              <a:rect r="r" b="b" t="t" l="l"/>
              <a:pathLst>
                <a:path h="4100830" w="22871430">
                  <a:moveTo>
                    <a:pt x="0" y="0"/>
                  </a:moveTo>
                  <a:lnTo>
                    <a:pt x="22871430" y="0"/>
                  </a:lnTo>
                  <a:lnTo>
                    <a:pt x="22871430" y="4100830"/>
                  </a:lnTo>
                  <a:lnTo>
                    <a:pt x="0" y="41008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673" r="0" b="-5867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2871430" cy="4157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F2F2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MALLVISION: </a:t>
              </a:r>
              <a:r>
                <a:rPr lang="en-US" sz="5400">
                  <a:solidFill>
                    <a:srgbClr val="F2F2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Real-Time Age, Emotion and Behavior - Based Advertising System for Sri Lankan Malls Using Custom-Built Models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652885" y="8652118"/>
            <a:ext cx="783812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25-26J-091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204335" y="3569970"/>
            <a:ext cx="9365932" cy="5945505"/>
            <a:chOff x="0" y="0"/>
            <a:chExt cx="12487910" cy="79273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87910" cy="7927340"/>
            </a:xfrm>
            <a:custGeom>
              <a:avLst/>
              <a:gdLst/>
              <a:ahLst/>
              <a:cxnLst/>
              <a:rect r="r" b="b" t="t" l="l"/>
              <a:pathLst>
                <a:path h="7927340" w="12487910">
                  <a:moveTo>
                    <a:pt x="0" y="0"/>
                  </a:moveTo>
                  <a:lnTo>
                    <a:pt x="12487910" y="0"/>
                  </a:lnTo>
                  <a:lnTo>
                    <a:pt x="12487910" y="7927340"/>
                  </a:lnTo>
                  <a:lnTo>
                    <a:pt x="0" y="7927340"/>
                  </a:lnTo>
                  <a:close/>
                </a:path>
              </a:pathLst>
            </a:custGeom>
            <a:blipFill>
              <a:blip r:embed="rId5"/>
              <a:stretch>
                <a:fillRect l="0" t="-15262" r="0" b="-1526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214" y="9514522"/>
            <a:ext cx="18271786" cy="772478"/>
            <a:chOff x="0" y="0"/>
            <a:chExt cx="4812322" cy="2034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2322" cy="203451"/>
            </a:xfrm>
            <a:custGeom>
              <a:avLst/>
              <a:gdLst/>
              <a:ahLst/>
              <a:cxnLst/>
              <a:rect r="r" b="b" t="t" l="l"/>
              <a:pathLst>
                <a:path h="203451" w="4812322">
                  <a:moveTo>
                    <a:pt x="0" y="0"/>
                  </a:moveTo>
                  <a:lnTo>
                    <a:pt x="4812322" y="0"/>
                  </a:lnTo>
                  <a:lnTo>
                    <a:pt x="4812322" y="203451"/>
                  </a:lnTo>
                  <a:lnTo>
                    <a:pt x="0" y="203451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4812322" cy="212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8" id="18" descr="A picture containing photo, table, person, monitor  Description automatically generated"/>
          <p:cNvSpPr/>
          <p:nvPr/>
        </p:nvSpPr>
        <p:spPr>
          <a:xfrm flipH="false" flipV="false" rot="0">
            <a:off x="0" y="955153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9440" r="-256844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571946" y="9756134"/>
            <a:ext cx="95237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1/6/26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70680" y="9757886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440" r="-256844" b="0"/>
            </a:stretch>
          </a:blipFill>
        </p:spPr>
      </p:sp>
      <p:sp>
        <p:nvSpPr>
          <p:cNvPr name="Freeform 3" id="3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440" r="-25684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5081" y="13776007"/>
            <a:ext cx="3161913" cy="3029126"/>
          </a:xfrm>
          <a:custGeom>
            <a:avLst/>
            <a:gdLst/>
            <a:ahLst/>
            <a:cxnLst/>
            <a:rect r="r" b="b" t="t" l="l"/>
            <a:pathLst>
              <a:path h="3029126" w="3161913">
                <a:moveTo>
                  <a:pt x="0" y="0"/>
                </a:moveTo>
                <a:lnTo>
                  <a:pt x="3161913" y="0"/>
                </a:lnTo>
                <a:lnTo>
                  <a:pt x="3161913" y="3029126"/>
                </a:lnTo>
                <a:lnTo>
                  <a:pt x="0" y="3029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0" y="0"/>
            <a:ext cx="18302969" cy="1029542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552194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1/4/26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7068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9440" r="-2568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2194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1/6/26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190"/>
            <a:ext cx="18319318" cy="9535058"/>
          </a:xfrm>
          <a:custGeom>
            <a:avLst/>
            <a:gdLst/>
            <a:ahLst/>
            <a:cxnLst/>
            <a:rect r="r" b="b" t="t" l="l"/>
            <a:pathLst>
              <a:path h="9535058" w="18319318">
                <a:moveTo>
                  <a:pt x="0" y="0"/>
                </a:moveTo>
                <a:lnTo>
                  <a:pt x="18319318" y="0"/>
                </a:lnTo>
                <a:lnTo>
                  <a:pt x="18319318" y="9535059"/>
                </a:lnTo>
                <a:lnTo>
                  <a:pt x="0" y="95350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033" r="0" b="-403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53476" y="3685009"/>
            <a:ext cx="17327105" cy="3343759"/>
            <a:chOff x="0" y="0"/>
            <a:chExt cx="23102807" cy="44583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02807" cy="4458345"/>
            </a:xfrm>
            <a:custGeom>
              <a:avLst/>
              <a:gdLst/>
              <a:ahLst/>
              <a:cxnLst/>
              <a:rect r="r" b="b" t="t" l="l"/>
              <a:pathLst>
                <a:path h="4458345" w="23102807">
                  <a:moveTo>
                    <a:pt x="0" y="0"/>
                  </a:moveTo>
                  <a:lnTo>
                    <a:pt x="23102807" y="0"/>
                  </a:lnTo>
                  <a:lnTo>
                    <a:pt x="23102807" y="4458345"/>
                  </a:lnTo>
                  <a:lnTo>
                    <a:pt x="0" y="44583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032" r="10286" b="-21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102807" cy="449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INTERA</a:t>
              </a:r>
              <a:r>
                <a:rPr lang="en-US" sz="6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CTIVE GAME-BASED AGE AND GENDER DETECTION FOR TARGETED ADVERTISING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9458" y="7527798"/>
            <a:ext cx="1536192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A6A6A6"/>
                </a:solidFill>
                <a:latin typeface="Cambria"/>
                <a:ea typeface="Cambria"/>
                <a:cs typeface="Cambria"/>
                <a:sym typeface="Cambria"/>
              </a:rPr>
              <a:t>B.Sc. (Hons) in Information Technology specializing in Data Science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948655" y="9739312"/>
            <a:ext cx="10224545" cy="547688"/>
            <a:chOff x="0" y="0"/>
            <a:chExt cx="13632726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632731" cy="730250"/>
            </a:xfrm>
            <a:custGeom>
              <a:avLst/>
              <a:gdLst/>
              <a:ahLst/>
              <a:cxnLst/>
              <a:rect r="r" b="b" t="t" l="l"/>
              <a:pathLst>
                <a:path h="730250" w="13632731">
                  <a:moveTo>
                    <a:pt x="0" y="0"/>
                  </a:moveTo>
                  <a:lnTo>
                    <a:pt x="13632731" y="0"/>
                  </a:lnTo>
                  <a:lnTo>
                    <a:pt x="13632731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3757" r="0" b="-31375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363272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IT22109712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| </a:t>
              </a: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Fonseka W S M  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25 – 26J- 091</a:t>
              </a:r>
            </a:p>
          </p:txBody>
        </p:sp>
      </p:grpSp>
      <p:sp>
        <p:nvSpPr>
          <p:cNvPr name="Freeform 12" id="12" descr="A person wearing glasses and a black shirt  AI-generated content may be incorrect."/>
          <p:cNvSpPr/>
          <p:nvPr/>
        </p:nvSpPr>
        <p:spPr>
          <a:xfrm flipH="false" flipV="false" rot="0">
            <a:off x="15195575" y="102108"/>
            <a:ext cx="3021263" cy="3464871"/>
          </a:xfrm>
          <a:custGeom>
            <a:avLst/>
            <a:gdLst/>
            <a:ahLst/>
            <a:cxnLst/>
            <a:rect r="r" b="b" t="t" l="l"/>
            <a:pathLst>
              <a:path h="3464871" w="3021263">
                <a:moveTo>
                  <a:pt x="0" y="0"/>
                </a:moveTo>
                <a:lnTo>
                  <a:pt x="3021264" y="0"/>
                </a:lnTo>
                <a:lnTo>
                  <a:pt x="3021264" y="3464871"/>
                </a:lnTo>
                <a:lnTo>
                  <a:pt x="0" y="34648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720" t="-20426" r="-11734" b="-4242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901998" y="986065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440" r="-2568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2194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1/6/26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-20688"/>
            <a:ext cx="18288000" cy="9580645"/>
          </a:xfrm>
          <a:custGeom>
            <a:avLst/>
            <a:gdLst/>
            <a:ahLst/>
            <a:cxnLst/>
            <a:rect r="r" b="b" t="t" l="l"/>
            <a:pathLst>
              <a:path h="9580645" w="18288000">
                <a:moveTo>
                  <a:pt x="0" y="0"/>
                </a:moveTo>
                <a:lnTo>
                  <a:pt x="18288000" y="0"/>
                </a:lnTo>
                <a:lnTo>
                  <a:pt x="18288000" y="9580645"/>
                </a:lnTo>
                <a:lnTo>
                  <a:pt x="0" y="9580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684" r="0" b="-3684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948655" y="9739312"/>
            <a:ext cx="10224545" cy="547688"/>
            <a:chOff x="0" y="0"/>
            <a:chExt cx="13632726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32731" cy="730250"/>
            </a:xfrm>
            <a:custGeom>
              <a:avLst/>
              <a:gdLst/>
              <a:ahLst/>
              <a:cxnLst/>
              <a:rect r="r" b="b" t="t" l="l"/>
              <a:pathLst>
                <a:path h="730250" w="13632731">
                  <a:moveTo>
                    <a:pt x="0" y="0"/>
                  </a:moveTo>
                  <a:lnTo>
                    <a:pt x="13632731" y="0"/>
                  </a:lnTo>
                  <a:lnTo>
                    <a:pt x="13632731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3757" r="0" b="-3137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363272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IT22109712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| </a:t>
              </a: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Fonseka W S M  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25 – 26J- 091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86015" y="174831"/>
            <a:ext cx="16507330" cy="2060300"/>
            <a:chOff x="0" y="0"/>
            <a:chExt cx="22009773" cy="27470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09768" cy="2747071"/>
            </a:xfrm>
            <a:custGeom>
              <a:avLst/>
              <a:gdLst/>
              <a:ahLst/>
              <a:cxnLst/>
              <a:rect r="r" b="b" t="t" l="l"/>
              <a:pathLst>
                <a:path h="2747071" w="22009768">
                  <a:moveTo>
                    <a:pt x="0" y="0"/>
                  </a:moveTo>
                  <a:lnTo>
                    <a:pt x="22009768" y="0"/>
                  </a:lnTo>
                  <a:lnTo>
                    <a:pt x="22009768" y="2747071"/>
                  </a:lnTo>
                  <a:lnTo>
                    <a:pt x="0" y="27470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6116" r="0" b="-1061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2009773" cy="27661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INTERA</a:t>
              </a:r>
              <a:r>
                <a:rPr lang="en-US" sz="34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CTIVE GAME-BASED AGE AND GENDER DETECTION FOR TARGETED ADVERTISING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7513" y="2945787"/>
            <a:ext cx="6368405" cy="2222125"/>
            <a:chOff x="0" y="0"/>
            <a:chExt cx="8491207" cy="29628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8440420" cy="2912110"/>
            </a:xfrm>
            <a:custGeom>
              <a:avLst/>
              <a:gdLst/>
              <a:ahLst/>
              <a:cxnLst/>
              <a:rect r="r" b="b" t="t" l="l"/>
              <a:pathLst>
                <a:path h="2912110" w="8440420">
                  <a:moveTo>
                    <a:pt x="0" y="485394"/>
                  </a:moveTo>
                  <a:cubicBezTo>
                    <a:pt x="0" y="217297"/>
                    <a:pt x="219710" y="0"/>
                    <a:pt x="490855" y="0"/>
                  </a:cubicBezTo>
                  <a:lnTo>
                    <a:pt x="7949565" y="0"/>
                  </a:lnTo>
                  <a:cubicBezTo>
                    <a:pt x="8220710" y="0"/>
                    <a:pt x="8440420" y="217297"/>
                    <a:pt x="8440420" y="485394"/>
                  </a:cubicBezTo>
                  <a:lnTo>
                    <a:pt x="8440420" y="2426716"/>
                  </a:lnTo>
                  <a:cubicBezTo>
                    <a:pt x="8440420" y="2694813"/>
                    <a:pt x="8220710" y="2912110"/>
                    <a:pt x="7949565" y="2912110"/>
                  </a:cubicBezTo>
                  <a:lnTo>
                    <a:pt x="490855" y="2912110"/>
                  </a:lnTo>
                  <a:cubicBezTo>
                    <a:pt x="219710" y="2911983"/>
                    <a:pt x="0" y="2694686"/>
                    <a:pt x="0" y="24267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91220" cy="2962910"/>
            </a:xfrm>
            <a:custGeom>
              <a:avLst/>
              <a:gdLst/>
              <a:ahLst/>
              <a:cxnLst/>
              <a:rect r="r" b="b" t="t" l="l"/>
              <a:pathLst>
                <a:path h="2962910" w="8491220">
                  <a:moveTo>
                    <a:pt x="0" y="510794"/>
                  </a:moveTo>
                  <a:cubicBezTo>
                    <a:pt x="0" y="228346"/>
                    <a:pt x="231394" y="0"/>
                    <a:pt x="516255" y="0"/>
                  </a:cubicBezTo>
                  <a:lnTo>
                    <a:pt x="7974965" y="0"/>
                  </a:lnTo>
                  <a:lnTo>
                    <a:pt x="7974965" y="25400"/>
                  </a:lnTo>
                  <a:lnTo>
                    <a:pt x="7974965" y="0"/>
                  </a:lnTo>
                  <a:cubicBezTo>
                    <a:pt x="8259826" y="0"/>
                    <a:pt x="8491220" y="228346"/>
                    <a:pt x="8491220" y="510794"/>
                  </a:cubicBezTo>
                  <a:lnTo>
                    <a:pt x="8465820" y="510794"/>
                  </a:lnTo>
                  <a:lnTo>
                    <a:pt x="8491220" y="510794"/>
                  </a:lnTo>
                  <a:lnTo>
                    <a:pt x="8491220" y="2452116"/>
                  </a:lnTo>
                  <a:lnTo>
                    <a:pt x="8465820" y="2452116"/>
                  </a:lnTo>
                  <a:lnTo>
                    <a:pt x="8491220" y="2452116"/>
                  </a:lnTo>
                  <a:cubicBezTo>
                    <a:pt x="8491220" y="2734437"/>
                    <a:pt x="8259826" y="2962910"/>
                    <a:pt x="7974965" y="2962910"/>
                  </a:cubicBezTo>
                  <a:lnTo>
                    <a:pt x="7974965" y="2937510"/>
                  </a:lnTo>
                  <a:lnTo>
                    <a:pt x="7974965" y="2962910"/>
                  </a:lnTo>
                  <a:lnTo>
                    <a:pt x="516255" y="2962910"/>
                  </a:lnTo>
                  <a:lnTo>
                    <a:pt x="516255" y="2937510"/>
                  </a:lnTo>
                  <a:lnTo>
                    <a:pt x="516255" y="2962910"/>
                  </a:lnTo>
                  <a:cubicBezTo>
                    <a:pt x="231394" y="2962783"/>
                    <a:pt x="0" y="2734437"/>
                    <a:pt x="0" y="2452116"/>
                  </a:cubicBezTo>
                  <a:lnTo>
                    <a:pt x="0" y="510794"/>
                  </a:lnTo>
                  <a:lnTo>
                    <a:pt x="25400" y="510794"/>
                  </a:lnTo>
                  <a:lnTo>
                    <a:pt x="0" y="510794"/>
                  </a:lnTo>
                  <a:moveTo>
                    <a:pt x="50800" y="510794"/>
                  </a:moveTo>
                  <a:lnTo>
                    <a:pt x="50800" y="2452116"/>
                  </a:lnTo>
                  <a:lnTo>
                    <a:pt x="25400" y="2452116"/>
                  </a:lnTo>
                  <a:lnTo>
                    <a:pt x="50800" y="2452116"/>
                  </a:lnTo>
                  <a:cubicBezTo>
                    <a:pt x="50800" y="2705862"/>
                    <a:pt x="258953" y="2912110"/>
                    <a:pt x="516255" y="2912110"/>
                  </a:cubicBezTo>
                  <a:lnTo>
                    <a:pt x="7974965" y="2912110"/>
                  </a:lnTo>
                  <a:cubicBezTo>
                    <a:pt x="8232267" y="2912110"/>
                    <a:pt x="8440420" y="2705862"/>
                    <a:pt x="8440420" y="2452116"/>
                  </a:cubicBezTo>
                  <a:lnTo>
                    <a:pt x="8440420" y="510794"/>
                  </a:lnTo>
                  <a:cubicBezTo>
                    <a:pt x="8440420" y="257048"/>
                    <a:pt x="8232267" y="50800"/>
                    <a:pt x="7974965" y="50800"/>
                  </a:cubicBezTo>
                  <a:lnTo>
                    <a:pt x="516255" y="50800"/>
                  </a:lnTo>
                  <a:lnTo>
                    <a:pt x="516255" y="25400"/>
                  </a:lnTo>
                  <a:lnTo>
                    <a:pt x="516255" y="50800"/>
                  </a:lnTo>
                  <a:cubicBezTo>
                    <a:pt x="258953" y="50800"/>
                    <a:pt x="50800" y="257048"/>
                    <a:pt x="50800" y="510794"/>
                  </a:cubicBezTo>
                  <a:close/>
                </a:path>
              </a:pathLst>
            </a:custGeom>
            <a:solidFill>
              <a:srgbClr val="009D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491207" cy="2981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Accurate age and gender identification with limited labeled data and changing visitors.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1359" y="6293272"/>
            <a:ext cx="7510682" cy="2965028"/>
            <a:chOff x="0" y="0"/>
            <a:chExt cx="10014242" cy="39533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584"/>
              <a:ext cx="9963404" cy="3902139"/>
            </a:xfrm>
            <a:custGeom>
              <a:avLst/>
              <a:gdLst/>
              <a:ahLst/>
              <a:cxnLst/>
              <a:rect r="r" b="b" t="t" l="l"/>
              <a:pathLst>
                <a:path h="3902139" w="9963404">
                  <a:moveTo>
                    <a:pt x="0" y="650335"/>
                  </a:moveTo>
                  <a:cubicBezTo>
                    <a:pt x="0" y="291141"/>
                    <a:pt x="291338" y="0"/>
                    <a:pt x="650875" y="0"/>
                  </a:cubicBezTo>
                  <a:lnTo>
                    <a:pt x="9312529" y="0"/>
                  </a:lnTo>
                  <a:cubicBezTo>
                    <a:pt x="9671939" y="0"/>
                    <a:pt x="9963404" y="291141"/>
                    <a:pt x="9963404" y="650335"/>
                  </a:cubicBezTo>
                  <a:lnTo>
                    <a:pt x="9963404" y="3251804"/>
                  </a:lnTo>
                  <a:cubicBezTo>
                    <a:pt x="9963404" y="3610997"/>
                    <a:pt x="9672066" y="3902139"/>
                    <a:pt x="9312529" y="3902139"/>
                  </a:cubicBezTo>
                  <a:lnTo>
                    <a:pt x="650875" y="3902139"/>
                  </a:lnTo>
                  <a:cubicBezTo>
                    <a:pt x="291338" y="3902267"/>
                    <a:pt x="0" y="3610998"/>
                    <a:pt x="0" y="32518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14204" cy="3953306"/>
            </a:xfrm>
            <a:custGeom>
              <a:avLst/>
              <a:gdLst/>
              <a:ahLst/>
              <a:cxnLst/>
              <a:rect r="r" b="b" t="t" l="l"/>
              <a:pathLst>
                <a:path h="3953306" w="10014204">
                  <a:moveTo>
                    <a:pt x="0" y="675919"/>
                  </a:moveTo>
                  <a:cubicBezTo>
                    <a:pt x="0" y="302398"/>
                    <a:pt x="303022" y="0"/>
                    <a:pt x="676275" y="0"/>
                  </a:cubicBezTo>
                  <a:lnTo>
                    <a:pt x="9337929" y="0"/>
                  </a:lnTo>
                  <a:lnTo>
                    <a:pt x="9337929" y="25584"/>
                  </a:lnTo>
                  <a:lnTo>
                    <a:pt x="9337929" y="0"/>
                  </a:lnTo>
                  <a:cubicBezTo>
                    <a:pt x="9711182" y="0"/>
                    <a:pt x="10014204" y="302398"/>
                    <a:pt x="10014204" y="675919"/>
                  </a:cubicBezTo>
                  <a:lnTo>
                    <a:pt x="9988804" y="675919"/>
                  </a:lnTo>
                  <a:lnTo>
                    <a:pt x="10014204" y="675919"/>
                  </a:lnTo>
                  <a:lnTo>
                    <a:pt x="10014204" y="3277388"/>
                  </a:lnTo>
                  <a:lnTo>
                    <a:pt x="9988804" y="3277388"/>
                  </a:lnTo>
                  <a:lnTo>
                    <a:pt x="10014204" y="3277388"/>
                  </a:lnTo>
                  <a:cubicBezTo>
                    <a:pt x="10014204" y="3650908"/>
                    <a:pt x="9711182" y="3953306"/>
                    <a:pt x="9337929" y="3953306"/>
                  </a:cubicBezTo>
                  <a:lnTo>
                    <a:pt x="9337929" y="3927723"/>
                  </a:lnTo>
                  <a:lnTo>
                    <a:pt x="9337929" y="3953306"/>
                  </a:lnTo>
                  <a:lnTo>
                    <a:pt x="676275" y="3953306"/>
                  </a:lnTo>
                  <a:lnTo>
                    <a:pt x="676275" y="3927723"/>
                  </a:lnTo>
                  <a:lnTo>
                    <a:pt x="676275" y="3953306"/>
                  </a:lnTo>
                  <a:cubicBezTo>
                    <a:pt x="303022" y="3953434"/>
                    <a:pt x="0" y="3650908"/>
                    <a:pt x="0" y="3277388"/>
                  </a:cubicBezTo>
                  <a:lnTo>
                    <a:pt x="0" y="675919"/>
                  </a:lnTo>
                  <a:lnTo>
                    <a:pt x="25400" y="675919"/>
                  </a:lnTo>
                  <a:lnTo>
                    <a:pt x="0" y="675919"/>
                  </a:lnTo>
                  <a:moveTo>
                    <a:pt x="50800" y="675919"/>
                  </a:moveTo>
                  <a:lnTo>
                    <a:pt x="50800" y="3277388"/>
                  </a:lnTo>
                  <a:lnTo>
                    <a:pt x="25400" y="3277388"/>
                  </a:lnTo>
                  <a:lnTo>
                    <a:pt x="50800" y="3277388"/>
                  </a:lnTo>
                  <a:cubicBezTo>
                    <a:pt x="50800" y="3622254"/>
                    <a:pt x="330581" y="3902139"/>
                    <a:pt x="676275" y="3902139"/>
                  </a:cubicBezTo>
                  <a:lnTo>
                    <a:pt x="9337929" y="3902139"/>
                  </a:lnTo>
                  <a:cubicBezTo>
                    <a:pt x="9683497" y="3902139"/>
                    <a:pt x="9963404" y="3622254"/>
                    <a:pt x="9963404" y="3277388"/>
                  </a:cubicBezTo>
                  <a:lnTo>
                    <a:pt x="9963404" y="675919"/>
                  </a:lnTo>
                  <a:cubicBezTo>
                    <a:pt x="9963404" y="331052"/>
                    <a:pt x="9683623" y="51167"/>
                    <a:pt x="9337929" y="51167"/>
                  </a:cubicBezTo>
                  <a:lnTo>
                    <a:pt x="676275" y="51167"/>
                  </a:lnTo>
                  <a:lnTo>
                    <a:pt x="676275" y="25584"/>
                  </a:lnTo>
                  <a:lnTo>
                    <a:pt x="676275" y="51167"/>
                  </a:lnTo>
                  <a:cubicBezTo>
                    <a:pt x="330581" y="51167"/>
                    <a:pt x="50800" y="331052"/>
                    <a:pt x="50800" y="675919"/>
                  </a:cubicBezTo>
                  <a:close/>
                </a:path>
              </a:pathLst>
            </a:custGeom>
            <a:solidFill>
              <a:srgbClr val="0F6FC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014242" cy="3972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614460" y="2441705"/>
            <a:ext cx="3252530" cy="634365"/>
            <a:chOff x="0" y="0"/>
            <a:chExt cx="4336707" cy="8458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36707" cy="845820"/>
            </a:xfrm>
            <a:custGeom>
              <a:avLst/>
              <a:gdLst/>
              <a:ahLst/>
              <a:cxnLst/>
              <a:rect r="r" b="b" t="t" l="l"/>
              <a:pathLst>
                <a:path h="845820" w="4336707">
                  <a:moveTo>
                    <a:pt x="0" y="0"/>
                  </a:moveTo>
                  <a:lnTo>
                    <a:pt x="4336707" y="0"/>
                  </a:lnTo>
                  <a:lnTo>
                    <a:pt x="4336707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-11514" r="0" b="-1151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21920" y="41910"/>
              <a:ext cx="4092867" cy="742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B54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Sub-Problem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72587" y="3618138"/>
            <a:ext cx="7133625" cy="3573370"/>
            <a:chOff x="0" y="0"/>
            <a:chExt cx="9511500" cy="47644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6109" y="20752"/>
              <a:ext cx="9459307" cy="4722927"/>
            </a:xfrm>
            <a:custGeom>
              <a:avLst/>
              <a:gdLst/>
              <a:ahLst/>
              <a:cxnLst/>
              <a:rect r="r" b="b" t="t" l="l"/>
              <a:pathLst>
                <a:path h="4722927" w="9459307">
                  <a:moveTo>
                    <a:pt x="0" y="787138"/>
                  </a:moveTo>
                  <a:cubicBezTo>
                    <a:pt x="0" y="352479"/>
                    <a:pt x="444898" y="0"/>
                    <a:pt x="993580" y="0"/>
                  </a:cubicBezTo>
                  <a:lnTo>
                    <a:pt x="8465728" y="0"/>
                  </a:lnTo>
                  <a:cubicBezTo>
                    <a:pt x="9014410" y="0"/>
                    <a:pt x="9459307" y="352479"/>
                    <a:pt x="9459307" y="787138"/>
                  </a:cubicBezTo>
                  <a:lnTo>
                    <a:pt x="9459307" y="3935790"/>
                  </a:lnTo>
                  <a:cubicBezTo>
                    <a:pt x="9459307" y="4370552"/>
                    <a:pt x="9014410" y="4722927"/>
                    <a:pt x="8465728" y="4722927"/>
                  </a:cubicBezTo>
                  <a:lnTo>
                    <a:pt x="993580" y="4722927"/>
                  </a:lnTo>
                  <a:cubicBezTo>
                    <a:pt x="444898" y="4723031"/>
                    <a:pt x="0" y="4370552"/>
                    <a:pt x="0" y="39357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11525" cy="4764432"/>
            </a:xfrm>
            <a:custGeom>
              <a:avLst/>
              <a:gdLst/>
              <a:ahLst/>
              <a:cxnLst/>
              <a:rect r="r" b="b" t="t" l="l"/>
              <a:pathLst>
                <a:path h="4764432" w="9511525">
                  <a:moveTo>
                    <a:pt x="0" y="807890"/>
                  </a:moveTo>
                  <a:cubicBezTo>
                    <a:pt x="0" y="361610"/>
                    <a:pt x="456647" y="0"/>
                    <a:pt x="1019689" y="0"/>
                  </a:cubicBezTo>
                  <a:lnTo>
                    <a:pt x="8491837" y="0"/>
                  </a:lnTo>
                  <a:lnTo>
                    <a:pt x="8491837" y="20752"/>
                  </a:lnTo>
                  <a:lnTo>
                    <a:pt x="8491837" y="0"/>
                  </a:lnTo>
                  <a:cubicBezTo>
                    <a:pt x="9054878" y="0"/>
                    <a:pt x="9511525" y="361610"/>
                    <a:pt x="9511525" y="807890"/>
                  </a:cubicBezTo>
                  <a:lnTo>
                    <a:pt x="9485416" y="807890"/>
                  </a:lnTo>
                  <a:lnTo>
                    <a:pt x="9511525" y="807890"/>
                  </a:lnTo>
                  <a:lnTo>
                    <a:pt x="9511525" y="3956542"/>
                  </a:lnTo>
                  <a:lnTo>
                    <a:pt x="9485416" y="3956542"/>
                  </a:lnTo>
                  <a:lnTo>
                    <a:pt x="9511525" y="3956542"/>
                  </a:lnTo>
                  <a:cubicBezTo>
                    <a:pt x="9511525" y="4402822"/>
                    <a:pt x="9054878" y="4764432"/>
                    <a:pt x="8491837" y="4764432"/>
                  </a:cubicBezTo>
                  <a:lnTo>
                    <a:pt x="8491837" y="4743679"/>
                  </a:lnTo>
                  <a:lnTo>
                    <a:pt x="8491837" y="4764432"/>
                  </a:lnTo>
                  <a:lnTo>
                    <a:pt x="1019689" y="4764432"/>
                  </a:lnTo>
                  <a:lnTo>
                    <a:pt x="1019689" y="4743679"/>
                  </a:lnTo>
                  <a:lnTo>
                    <a:pt x="1019689" y="4764432"/>
                  </a:lnTo>
                  <a:cubicBezTo>
                    <a:pt x="456647" y="4764544"/>
                    <a:pt x="0" y="4402822"/>
                    <a:pt x="0" y="3956542"/>
                  </a:cubicBezTo>
                  <a:lnTo>
                    <a:pt x="0" y="807890"/>
                  </a:lnTo>
                  <a:lnTo>
                    <a:pt x="26109" y="807890"/>
                  </a:lnTo>
                  <a:lnTo>
                    <a:pt x="0" y="807890"/>
                  </a:lnTo>
                  <a:moveTo>
                    <a:pt x="52218" y="807890"/>
                  </a:moveTo>
                  <a:lnTo>
                    <a:pt x="52218" y="3956542"/>
                  </a:lnTo>
                  <a:lnTo>
                    <a:pt x="26109" y="3956542"/>
                  </a:lnTo>
                  <a:lnTo>
                    <a:pt x="52218" y="3956542"/>
                  </a:lnTo>
                  <a:cubicBezTo>
                    <a:pt x="52218" y="4379787"/>
                    <a:pt x="485237" y="4722927"/>
                    <a:pt x="1019689" y="4722927"/>
                  </a:cubicBezTo>
                  <a:lnTo>
                    <a:pt x="8491837" y="4722927"/>
                  </a:lnTo>
                  <a:cubicBezTo>
                    <a:pt x="9026289" y="4722927"/>
                    <a:pt x="9459307" y="4379683"/>
                    <a:pt x="9459307" y="3956542"/>
                  </a:cubicBezTo>
                  <a:lnTo>
                    <a:pt x="9459307" y="807890"/>
                  </a:lnTo>
                  <a:cubicBezTo>
                    <a:pt x="9459307" y="384749"/>
                    <a:pt x="9026158" y="41505"/>
                    <a:pt x="8491837" y="41505"/>
                  </a:cubicBezTo>
                  <a:lnTo>
                    <a:pt x="1019689" y="41505"/>
                  </a:lnTo>
                  <a:lnTo>
                    <a:pt x="1019689" y="20752"/>
                  </a:lnTo>
                  <a:lnTo>
                    <a:pt x="1019689" y="41505"/>
                  </a:lnTo>
                  <a:cubicBezTo>
                    <a:pt x="485237" y="41505"/>
                    <a:pt x="52218" y="384749"/>
                    <a:pt x="52218" y="807890"/>
                  </a:cubicBezTo>
                  <a:close/>
                </a:path>
              </a:pathLst>
            </a:custGeom>
            <a:solidFill>
              <a:srgbClr val="0BD0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9511500" cy="478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66847" y="3116999"/>
            <a:ext cx="4345105" cy="634365"/>
            <a:chOff x="0" y="0"/>
            <a:chExt cx="5793473" cy="8458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93473" cy="845820"/>
            </a:xfrm>
            <a:custGeom>
              <a:avLst/>
              <a:gdLst/>
              <a:ahLst/>
              <a:cxnLst/>
              <a:rect r="r" b="b" t="t" l="l"/>
              <a:pathLst>
                <a:path h="845820" w="5793473">
                  <a:moveTo>
                    <a:pt x="0" y="0"/>
                  </a:moveTo>
                  <a:lnTo>
                    <a:pt x="5793473" y="0"/>
                  </a:lnTo>
                  <a:lnTo>
                    <a:pt x="5793473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-11514" r="0" b="-1151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121920" y="41910"/>
              <a:ext cx="5549633" cy="742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B54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Solution Approach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30851" y="5882288"/>
            <a:ext cx="5521728" cy="634365"/>
            <a:chOff x="0" y="0"/>
            <a:chExt cx="7362304" cy="8458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62304" cy="845820"/>
            </a:xfrm>
            <a:custGeom>
              <a:avLst/>
              <a:gdLst/>
              <a:ahLst/>
              <a:cxnLst/>
              <a:rect r="r" b="b" t="t" l="l"/>
              <a:pathLst>
                <a:path h="845820" w="7362304">
                  <a:moveTo>
                    <a:pt x="0" y="0"/>
                  </a:moveTo>
                  <a:lnTo>
                    <a:pt x="7362304" y="0"/>
                  </a:lnTo>
                  <a:lnTo>
                    <a:pt x="7362304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-11514" r="0" b="-1151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121920" y="41910"/>
              <a:ext cx="7118464" cy="742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B54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User Requirements Met 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7854382" y="3751364"/>
            <a:ext cx="2803665" cy="593788"/>
          </a:xfrm>
          <a:custGeom>
            <a:avLst/>
            <a:gdLst/>
            <a:ahLst/>
            <a:cxnLst/>
            <a:rect r="r" b="b" t="t" l="l"/>
            <a:pathLst>
              <a:path h="593788" w="2803665">
                <a:moveTo>
                  <a:pt x="0" y="0"/>
                </a:moveTo>
                <a:lnTo>
                  <a:pt x="2803664" y="0"/>
                </a:lnTo>
                <a:lnTo>
                  <a:pt x="2803664" y="593789"/>
                </a:lnTo>
                <a:lnTo>
                  <a:pt x="0" y="5937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257165" y="6894614"/>
            <a:ext cx="2451306" cy="593788"/>
          </a:xfrm>
          <a:custGeom>
            <a:avLst/>
            <a:gdLst/>
            <a:ahLst/>
            <a:cxnLst/>
            <a:rect r="r" b="b" t="t" l="l"/>
            <a:pathLst>
              <a:path h="593788" w="2451306">
                <a:moveTo>
                  <a:pt x="0" y="0"/>
                </a:moveTo>
                <a:lnTo>
                  <a:pt x="2451307" y="0"/>
                </a:lnTo>
                <a:lnTo>
                  <a:pt x="2451307" y="593789"/>
                </a:lnTo>
                <a:lnTo>
                  <a:pt x="0" y="59378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2026792" y="756942"/>
            <a:ext cx="3247414" cy="3298514"/>
          </a:xfrm>
          <a:custGeom>
            <a:avLst/>
            <a:gdLst/>
            <a:ahLst/>
            <a:cxnLst/>
            <a:rect r="r" b="b" t="t" l="l"/>
            <a:pathLst>
              <a:path h="3298514" w="3247414">
                <a:moveTo>
                  <a:pt x="0" y="0"/>
                </a:moveTo>
                <a:lnTo>
                  <a:pt x="3247414" y="0"/>
                </a:lnTo>
                <a:lnTo>
                  <a:pt x="3247414" y="3298514"/>
                </a:lnTo>
                <a:lnTo>
                  <a:pt x="0" y="329851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7639530" y="6724076"/>
            <a:ext cx="3247414" cy="3298513"/>
          </a:xfrm>
          <a:custGeom>
            <a:avLst/>
            <a:gdLst/>
            <a:ahLst/>
            <a:cxnLst/>
            <a:rect r="r" b="b" t="t" l="l"/>
            <a:pathLst>
              <a:path h="3298513" w="3247414">
                <a:moveTo>
                  <a:pt x="0" y="0"/>
                </a:moveTo>
                <a:lnTo>
                  <a:pt x="3247415" y="0"/>
                </a:lnTo>
                <a:lnTo>
                  <a:pt x="3247415" y="3298513"/>
                </a:lnTo>
                <a:lnTo>
                  <a:pt x="0" y="329851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693926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347223" y="3814148"/>
            <a:ext cx="5592037" cy="330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664" indent="-292832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Cust</a:t>
            </a:r>
            <a:r>
              <a:rPr lang="en-US" sz="271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om CNN (ResNet) architecture</a:t>
            </a:r>
          </a:p>
          <a:p>
            <a:pPr algn="l" marL="585664" indent="-292832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Temporal confidence aggregation</a:t>
            </a:r>
          </a:p>
          <a:p>
            <a:pPr algn="l" marL="585664" indent="-292832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Vector embeddings</a:t>
            </a:r>
          </a:p>
          <a:p>
            <a:pPr algn="l" marL="585664" indent="-292832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Mass audience and individual crowd addressing</a:t>
            </a:r>
          </a:p>
          <a:p>
            <a:pPr algn="l" marL="585664" indent="-292832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Majority-based decision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70914" y="6928823"/>
            <a:ext cx="6041603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Real-time age &amp; gender detection</a:t>
            </a:r>
          </a:p>
          <a:p>
            <a:pPr algn="l" marL="647698" indent="-323849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Compatible sh</a:t>
            </a: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ort user exposure</a:t>
            </a:r>
          </a:p>
          <a:p>
            <a:pPr algn="l" marL="647698" indent="-323849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Identifying returning customers</a:t>
            </a:r>
          </a:p>
          <a:p>
            <a:pPr algn="l" marL="647698" indent="-323849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Integration ready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90"/>
            <a:ext cx="18288000" cy="9580645"/>
          </a:xfrm>
          <a:custGeom>
            <a:avLst/>
            <a:gdLst/>
            <a:ahLst/>
            <a:cxnLst/>
            <a:rect r="r" b="b" t="t" l="l"/>
            <a:pathLst>
              <a:path h="9580645" w="18288000">
                <a:moveTo>
                  <a:pt x="0" y="0"/>
                </a:moveTo>
                <a:lnTo>
                  <a:pt x="18288000" y="0"/>
                </a:lnTo>
                <a:lnTo>
                  <a:pt x="18288000" y="9580646"/>
                </a:lnTo>
                <a:lnTo>
                  <a:pt x="0" y="9580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84" r="0" b="-3684"/>
            </a:stretch>
          </a:blipFill>
        </p:spPr>
      </p:sp>
      <p:sp>
        <p:nvSpPr>
          <p:cNvPr name="Freeform 3" id="3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9440" r="-256844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023536" y="9627499"/>
            <a:ext cx="10224545" cy="547688"/>
            <a:chOff x="0" y="0"/>
            <a:chExt cx="13632726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632731" cy="730250"/>
            </a:xfrm>
            <a:custGeom>
              <a:avLst/>
              <a:gdLst/>
              <a:ahLst/>
              <a:cxnLst/>
              <a:rect r="r" b="b" t="t" l="l"/>
              <a:pathLst>
                <a:path h="730250" w="13632731">
                  <a:moveTo>
                    <a:pt x="0" y="0"/>
                  </a:moveTo>
                  <a:lnTo>
                    <a:pt x="13632731" y="0"/>
                  </a:lnTo>
                  <a:lnTo>
                    <a:pt x="13632731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3757" r="0" b="-31375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363272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IT22109712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|</a:t>
              </a:r>
              <a:r>
                <a:rPr lang="en-US" b="true" sz="2700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Fonseka W S M 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25 – 26J- 091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3289" y="0"/>
            <a:ext cx="17465040" cy="1682312"/>
            <a:chOff x="0" y="0"/>
            <a:chExt cx="23286720" cy="22430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286720" cy="2243080"/>
            </a:xfrm>
            <a:custGeom>
              <a:avLst/>
              <a:gdLst/>
              <a:ahLst/>
              <a:cxnLst/>
              <a:rect r="r" b="b" t="t" l="l"/>
              <a:pathLst>
                <a:path h="2243080" w="23286720">
                  <a:moveTo>
                    <a:pt x="0" y="0"/>
                  </a:moveTo>
                  <a:lnTo>
                    <a:pt x="23286720" y="0"/>
                  </a:lnTo>
                  <a:lnTo>
                    <a:pt x="23286720" y="2243080"/>
                  </a:lnTo>
                  <a:lnTo>
                    <a:pt x="0" y="2243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640" r="0" b="-16593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3286720" cy="226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INTERACTIVE GAME-BASED AGE AND GENDER DETECTION FOR TARGETED ADVERTISING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00435" y="6160570"/>
            <a:ext cx="5437794" cy="2659596"/>
            <a:chOff x="0" y="0"/>
            <a:chExt cx="7250392" cy="35461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50396" cy="3546132"/>
            </a:xfrm>
            <a:custGeom>
              <a:avLst/>
              <a:gdLst/>
              <a:ahLst/>
              <a:cxnLst/>
              <a:rect r="r" b="b" t="t" l="l"/>
              <a:pathLst>
                <a:path h="3546132" w="7250396">
                  <a:moveTo>
                    <a:pt x="0" y="0"/>
                  </a:moveTo>
                  <a:lnTo>
                    <a:pt x="7250396" y="0"/>
                  </a:lnTo>
                  <a:lnTo>
                    <a:pt x="7250396" y="3546132"/>
                  </a:lnTo>
                  <a:lnTo>
                    <a:pt x="0" y="35461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01" r="0" b="3412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250392" cy="3565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Anonymous face embeddings used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578821" y="4645341"/>
            <a:ext cx="567247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3000" b="true">
                <a:solidFill>
                  <a:srgbClr val="222222"/>
                </a:solidFill>
                <a:latin typeface="Cambria Bold"/>
                <a:ea typeface="Cambria Bold"/>
                <a:cs typeface="Cambria Bold"/>
                <a:sym typeface="Cambria Bold"/>
              </a:rPr>
              <a:t>Real-time kiosk optimization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732873" y="6261443"/>
            <a:ext cx="3247414" cy="3298514"/>
          </a:xfrm>
          <a:custGeom>
            <a:avLst/>
            <a:gdLst/>
            <a:ahLst/>
            <a:cxnLst/>
            <a:rect r="r" b="b" t="t" l="l"/>
            <a:pathLst>
              <a:path h="3298514" w="3247414">
                <a:moveTo>
                  <a:pt x="0" y="0"/>
                </a:moveTo>
                <a:lnTo>
                  <a:pt x="3247414" y="0"/>
                </a:lnTo>
                <a:lnTo>
                  <a:pt x="3247414" y="3298514"/>
                </a:lnTo>
                <a:lnTo>
                  <a:pt x="0" y="3298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969425" y="1028700"/>
            <a:ext cx="4318575" cy="2877250"/>
          </a:xfrm>
          <a:custGeom>
            <a:avLst/>
            <a:gdLst/>
            <a:ahLst/>
            <a:cxnLst/>
            <a:rect r="r" b="b" t="t" l="l"/>
            <a:pathLst>
              <a:path h="2877250" w="4318575">
                <a:moveTo>
                  <a:pt x="0" y="0"/>
                </a:moveTo>
                <a:lnTo>
                  <a:pt x="4318575" y="0"/>
                </a:lnTo>
                <a:lnTo>
                  <a:pt x="4318575" y="2877250"/>
                </a:lnTo>
                <a:lnTo>
                  <a:pt x="0" y="287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52194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1/6/26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6215" y="2778833"/>
            <a:ext cx="6160214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3000" b="true">
                <a:solidFill>
                  <a:srgbClr val="222222"/>
                </a:solidFill>
                <a:latin typeface="Cambria Bold"/>
                <a:ea typeface="Cambria Bold"/>
                <a:cs typeface="Cambria Bold"/>
                <a:sym typeface="Cambria Bold"/>
              </a:rPr>
              <a:t>Few-shot occlusion-aware learning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0817" y="3723713"/>
            <a:ext cx="5492706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Trained from limited occluded face samples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7120" y="5198545"/>
            <a:ext cx="507902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3000" b="true">
                <a:solidFill>
                  <a:srgbClr val="222222"/>
                </a:solidFill>
                <a:latin typeface="Cambria Bold"/>
                <a:ea typeface="Cambria Bold"/>
                <a:cs typeface="Cambria Bold"/>
                <a:sym typeface="Cambria Bold"/>
              </a:rPr>
              <a:t>System-Level Regularization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3829" y="6556918"/>
            <a:ext cx="527123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Dropout and data augmentation to reduce overfitting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13453" y="2675963"/>
            <a:ext cx="592695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Temporal prediction aggregation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88762" y="3559491"/>
            <a:ext cx="4290059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Predictions </a:t>
            </a:r>
            <a:r>
              <a:rPr lang="en-US" sz="30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aggregated across multiple frames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50723" y="5920902"/>
            <a:ext cx="544249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3000" b="true">
                <a:solidFill>
                  <a:srgbClr val="222222"/>
                </a:solidFill>
                <a:latin typeface="Cambria Bold"/>
                <a:ea typeface="Cambria Bold"/>
                <a:cs typeface="Cambria Bold"/>
                <a:sym typeface="Cambria Bold"/>
              </a:rPr>
              <a:t>Embedding-based consistency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87503" y="5912920"/>
            <a:ext cx="40551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Lightweight CNN architecture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4913" y="1672787"/>
            <a:ext cx="1054246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B3EAF2"/>
                </a:solidFill>
                <a:latin typeface="Cambria Bold"/>
                <a:ea typeface="Cambria Bold"/>
                <a:cs typeface="Cambria Bold"/>
                <a:sym typeface="Cambria Bold"/>
              </a:rPr>
              <a:t>Design Excellence / Technical Contribution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93926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08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440" r="-2568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2194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1/6/26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182850" y="209550"/>
            <a:ext cx="3009900" cy="3467100"/>
            <a:chOff x="0" y="0"/>
            <a:chExt cx="4013200" cy="462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39624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13200" cy="4622800"/>
            </a:xfrm>
            <a:custGeom>
              <a:avLst/>
              <a:gdLst/>
              <a:ahLst/>
              <a:cxnLst/>
              <a:rect r="r" b="b" t="t" l="l"/>
              <a:pathLst>
                <a:path h="4622800" w="4013200">
                  <a:moveTo>
                    <a:pt x="25400" y="0"/>
                  </a:moveTo>
                  <a:lnTo>
                    <a:pt x="3987800" y="0"/>
                  </a:lnTo>
                  <a:cubicBezTo>
                    <a:pt x="4001770" y="0"/>
                    <a:pt x="4013200" y="11430"/>
                    <a:pt x="4013200" y="25400"/>
                  </a:cubicBezTo>
                  <a:lnTo>
                    <a:pt x="4013200" y="4597400"/>
                  </a:lnTo>
                  <a:cubicBezTo>
                    <a:pt x="4013200" y="4611370"/>
                    <a:pt x="4001770" y="4622800"/>
                    <a:pt x="3987800" y="4622800"/>
                  </a:cubicBezTo>
                  <a:lnTo>
                    <a:pt x="25400" y="4622800"/>
                  </a:lnTo>
                  <a:cubicBezTo>
                    <a:pt x="11430" y="4622800"/>
                    <a:pt x="0" y="4611370"/>
                    <a:pt x="0" y="459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597400"/>
                  </a:lnTo>
                  <a:lnTo>
                    <a:pt x="25400" y="4597400"/>
                  </a:lnTo>
                  <a:lnTo>
                    <a:pt x="25400" y="4572000"/>
                  </a:lnTo>
                  <a:lnTo>
                    <a:pt x="3987800" y="4572000"/>
                  </a:lnTo>
                  <a:lnTo>
                    <a:pt x="3987800" y="4597400"/>
                  </a:lnTo>
                  <a:lnTo>
                    <a:pt x="3962400" y="4597400"/>
                  </a:lnTo>
                  <a:lnTo>
                    <a:pt x="3962400" y="25400"/>
                  </a:lnTo>
                  <a:lnTo>
                    <a:pt x="3987800" y="25400"/>
                  </a:lnTo>
                  <a:lnTo>
                    <a:pt x="39878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013200" cy="464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Student Must add a professional photo to this cage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190"/>
            <a:ext cx="18303659" cy="9535058"/>
          </a:xfrm>
          <a:custGeom>
            <a:avLst/>
            <a:gdLst/>
            <a:ahLst/>
            <a:cxnLst/>
            <a:rect r="r" b="b" t="t" l="l"/>
            <a:pathLst>
              <a:path h="9535058" w="18303659">
                <a:moveTo>
                  <a:pt x="0" y="0"/>
                </a:moveTo>
                <a:lnTo>
                  <a:pt x="18303659" y="0"/>
                </a:lnTo>
                <a:lnTo>
                  <a:pt x="18303659" y="9535059"/>
                </a:lnTo>
                <a:lnTo>
                  <a:pt x="0" y="95350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87" r="0" b="-3987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7182" y="4027808"/>
            <a:ext cx="17187843" cy="3343759"/>
            <a:chOff x="0" y="0"/>
            <a:chExt cx="22917125" cy="44583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17121" cy="4458351"/>
            </a:xfrm>
            <a:custGeom>
              <a:avLst/>
              <a:gdLst/>
              <a:ahLst/>
              <a:cxnLst/>
              <a:rect r="r" b="b" t="t" l="l"/>
              <a:pathLst>
                <a:path h="4458351" w="22917121">
                  <a:moveTo>
                    <a:pt x="0" y="0"/>
                  </a:moveTo>
                  <a:lnTo>
                    <a:pt x="22917121" y="0"/>
                  </a:lnTo>
                  <a:lnTo>
                    <a:pt x="22917121" y="4458351"/>
                  </a:lnTo>
                  <a:lnTo>
                    <a:pt x="0" y="44583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388" r="0" b="-4592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917125" cy="449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EMOTION DETE</a:t>
              </a:r>
              <a:r>
                <a:rPr lang="en-US" sz="6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CTION WITH DOMAIN-SPECIFIC CLASSIFICATION FOR </a:t>
              </a:r>
            </a:p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ADAPTIVE ADS AND SECURITY ALERTS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948655" y="9739312"/>
            <a:ext cx="10224545" cy="547688"/>
            <a:chOff x="0" y="0"/>
            <a:chExt cx="13632726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32731" cy="730250"/>
            </a:xfrm>
            <a:custGeom>
              <a:avLst/>
              <a:gdLst/>
              <a:ahLst/>
              <a:cxnLst/>
              <a:rect r="r" b="b" t="t" l="l"/>
              <a:pathLst>
                <a:path h="730250" w="13632731">
                  <a:moveTo>
                    <a:pt x="0" y="0"/>
                  </a:moveTo>
                  <a:lnTo>
                    <a:pt x="13632731" y="0"/>
                  </a:lnTo>
                  <a:lnTo>
                    <a:pt x="13632731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3757" r="0" b="-31375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363272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IT22258526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|   </a:t>
              </a: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SAMARAWEERA W D U I  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25 – 26J- 091</a:t>
              </a:r>
            </a:p>
          </p:txBody>
        </p:sp>
      </p:grpSp>
      <p:sp>
        <p:nvSpPr>
          <p:cNvPr name="Freeform 15" id="15" descr="A person taking a selfie  AI-generated content may be incorrect."/>
          <p:cNvSpPr/>
          <p:nvPr/>
        </p:nvSpPr>
        <p:spPr>
          <a:xfrm flipH="false" flipV="false" rot="0">
            <a:off x="15037527" y="212274"/>
            <a:ext cx="3265532" cy="3678241"/>
          </a:xfrm>
          <a:custGeom>
            <a:avLst/>
            <a:gdLst/>
            <a:ahLst/>
            <a:cxnLst/>
            <a:rect r="r" b="b" t="t" l="l"/>
            <a:pathLst>
              <a:path h="3678241" w="3265532">
                <a:moveTo>
                  <a:pt x="0" y="0"/>
                </a:moveTo>
                <a:lnTo>
                  <a:pt x="3265532" y="0"/>
                </a:lnTo>
                <a:lnTo>
                  <a:pt x="3265532" y="3678241"/>
                </a:lnTo>
                <a:lnTo>
                  <a:pt x="0" y="3678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999" t="-9958" r="3500" b="-4801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77543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09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2150316" y="7514442"/>
            <a:ext cx="17187843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  <a:spcBef>
                <a:spcPct val="0"/>
              </a:spcBef>
            </a:pPr>
            <a:r>
              <a:rPr lang="en-US" sz="2700">
                <a:solidFill>
                  <a:srgbClr val="A6A6A6"/>
                </a:solidFill>
                <a:latin typeface="Cambria"/>
                <a:ea typeface="Cambria"/>
                <a:cs typeface="Cambria"/>
                <a:sym typeface="Cambria"/>
              </a:rPr>
              <a:t>B.Sc. (Hons) in Information Technology specializing in Data Science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9440" r="-2568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2194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1/6/26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800" y="11297"/>
            <a:ext cx="18288000" cy="9566377"/>
          </a:xfrm>
          <a:custGeom>
            <a:avLst/>
            <a:gdLst/>
            <a:ahLst/>
            <a:cxnLst/>
            <a:rect r="r" b="b" t="t" l="l"/>
            <a:pathLst>
              <a:path h="9566377" w="18288000">
                <a:moveTo>
                  <a:pt x="0" y="0"/>
                </a:moveTo>
                <a:lnTo>
                  <a:pt x="18288000" y="0"/>
                </a:lnTo>
                <a:lnTo>
                  <a:pt x="18288000" y="9566376"/>
                </a:lnTo>
                <a:lnTo>
                  <a:pt x="0" y="95663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764" r="0" b="-3764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948655" y="9739312"/>
            <a:ext cx="10224545" cy="547688"/>
            <a:chOff x="0" y="0"/>
            <a:chExt cx="13632726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32731" cy="730250"/>
            </a:xfrm>
            <a:custGeom>
              <a:avLst/>
              <a:gdLst/>
              <a:ahLst/>
              <a:cxnLst/>
              <a:rect r="r" b="b" t="t" l="l"/>
              <a:pathLst>
                <a:path h="730250" w="13632731">
                  <a:moveTo>
                    <a:pt x="0" y="0"/>
                  </a:moveTo>
                  <a:lnTo>
                    <a:pt x="13632731" y="0"/>
                  </a:lnTo>
                  <a:lnTo>
                    <a:pt x="13632731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3757" r="0" b="-3137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363272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IT22258526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|</a:t>
              </a: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SAMARAWEERA W D U I  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25 – 26J- 091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4210" y="308663"/>
            <a:ext cx="18042988" cy="1385032"/>
            <a:chOff x="0" y="0"/>
            <a:chExt cx="24057318" cy="18467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57316" cy="1846713"/>
            </a:xfrm>
            <a:custGeom>
              <a:avLst/>
              <a:gdLst/>
              <a:ahLst/>
              <a:cxnLst/>
              <a:rect r="r" b="b" t="t" l="l"/>
              <a:pathLst>
                <a:path h="1846713" w="24057316">
                  <a:moveTo>
                    <a:pt x="0" y="0"/>
                  </a:moveTo>
                  <a:lnTo>
                    <a:pt x="24057316" y="0"/>
                  </a:lnTo>
                  <a:lnTo>
                    <a:pt x="24057316" y="1846713"/>
                  </a:lnTo>
                  <a:lnTo>
                    <a:pt x="0" y="184671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3833" r="0" b="-20383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4057318" cy="18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EMOTION DETECTION WITH  DOMAIN-SPECIFIC CLASSIFICATION FOR </a:t>
              </a:r>
            </a:p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ADAPTIVE ADS AND SECURITY ALERTS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7513" y="2945787"/>
            <a:ext cx="6368405" cy="2222125"/>
            <a:chOff x="0" y="0"/>
            <a:chExt cx="8491207" cy="29628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8440420" cy="2912110"/>
            </a:xfrm>
            <a:custGeom>
              <a:avLst/>
              <a:gdLst/>
              <a:ahLst/>
              <a:cxnLst/>
              <a:rect r="r" b="b" t="t" l="l"/>
              <a:pathLst>
                <a:path h="2912110" w="8440420">
                  <a:moveTo>
                    <a:pt x="0" y="485394"/>
                  </a:moveTo>
                  <a:cubicBezTo>
                    <a:pt x="0" y="217297"/>
                    <a:pt x="219710" y="0"/>
                    <a:pt x="490855" y="0"/>
                  </a:cubicBezTo>
                  <a:lnTo>
                    <a:pt x="7949565" y="0"/>
                  </a:lnTo>
                  <a:cubicBezTo>
                    <a:pt x="8220710" y="0"/>
                    <a:pt x="8440420" y="217297"/>
                    <a:pt x="8440420" y="485394"/>
                  </a:cubicBezTo>
                  <a:lnTo>
                    <a:pt x="8440420" y="2426716"/>
                  </a:lnTo>
                  <a:cubicBezTo>
                    <a:pt x="8440420" y="2694813"/>
                    <a:pt x="8220710" y="2912110"/>
                    <a:pt x="7949565" y="2912110"/>
                  </a:cubicBezTo>
                  <a:lnTo>
                    <a:pt x="490855" y="2912110"/>
                  </a:lnTo>
                  <a:cubicBezTo>
                    <a:pt x="219710" y="2911983"/>
                    <a:pt x="0" y="2694686"/>
                    <a:pt x="0" y="24267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91220" cy="2962910"/>
            </a:xfrm>
            <a:custGeom>
              <a:avLst/>
              <a:gdLst/>
              <a:ahLst/>
              <a:cxnLst/>
              <a:rect r="r" b="b" t="t" l="l"/>
              <a:pathLst>
                <a:path h="2962910" w="8491220">
                  <a:moveTo>
                    <a:pt x="0" y="510794"/>
                  </a:moveTo>
                  <a:cubicBezTo>
                    <a:pt x="0" y="228346"/>
                    <a:pt x="231394" y="0"/>
                    <a:pt x="516255" y="0"/>
                  </a:cubicBezTo>
                  <a:lnTo>
                    <a:pt x="7974965" y="0"/>
                  </a:lnTo>
                  <a:lnTo>
                    <a:pt x="7974965" y="25400"/>
                  </a:lnTo>
                  <a:lnTo>
                    <a:pt x="7974965" y="0"/>
                  </a:lnTo>
                  <a:cubicBezTo>
                    <a:pt x="8259826" y="0"/>
                    <a:pt x="8491220" y="228346"/>
                    <a:pt x="8491220" y="510794"/>
                  </a:cubicBezTo>
                  <a:lnTo>
                    <a:pt x="8465820" y="510794"/>
                  </a:lnTo>
                  <a:lnTo>
                    <a:pt x="8491220" y="510794"/>
                  </a:lnTo>
                  <a:lnTo>
                    <a:pt x="8491220" y="2452116"/>
                  </a:lnTo>
                  <a:lnTo>
                    <a:pt x="8465820" y="2452116"/>
                  </a:lnTo>
                  <a:lnTo>
                    <a:pt x="8491220" y="2452116"/>
                  </a:lnTo>
                  <a:cubicBezTo>
                    <a:pt x="8491220" y="2734437"/>
                    <a:pt x="8259826" y="2962910"/>
                    <a:pt x="7974965" y="2962910"/>
                  </a:cubicBezTo>
                  <a:lnTo>
                    <a:pt x="7974965" y="2937510"/>
                  </a:lnTo>
                  <a:lnTo>
                    <a:pt x="7974965" y="2962910"/>
                  </a:lnTo>
                  <a:lnTo>
                    <a:pt x="516255" y="2962910"/>
                  </a:lnTo>
                  <a:lnTo>
                    <a:pt x="516255" y="2937510"/>
                  </a:lnTo>
                  <a:lnTo>
                    <a:pt x="516255" y="2962910"/>
                  </a:lnTo>
                  <a:cubicBezTo>
                    <a:pt x="231394" y="2962783"/>
                    <a:pt x="0" y="2734437"/>
                    <a:pt x="0" y="2452116"/>
                  </a:cubicBezTo>
                  <a:lnTo>
                    <a:pt x="0" y="510794"/>
                  </a:lnTo>
                  <a:lnTo>
                    <a:pt x="25400" y="510794"/>
                  </a:lnTo>
                  <a:lnTo>
                    <a:pt x="0" y="510794"/>
                  </a:lnTo>
                  <a:moveTo>
                    <a:pt x="50800" y="510794"/>
                  </a:moveTo>
                  <a:lnTo>
                    <a:pt x="50800" y="2452116"/>
                  </a:lnTo>
                  <a:lnTo>
                    <a:pt x="25400" y="2452116"/>
                  </a:lnTo>
                  <a:lnTo>
                    <a:pt x="50800" y="2452116"/>
                  </a:lnTo>
                  <a:cubicBezTo>
                    <a:pt x="50800" y="2705862"/>
                    <a:pt x="258953" y="2912110"/>
                    <a:pt x="516255" y="2912110"/>
                  </a:cubicBezTo>
                  <a:lnTo>
                    <a:pt x="7974965" y="2912110"/>
                  </a:lnTo>
                  <a:cubicBezTo>
                    <a:pt x="8232267" y="2912110"/>
                    <a:pt x="8440420" y="2705862"/>
                    <a:pt x="8440420" y="2452116"/>
                  </a:cubicBezTo>
                  <a:lnTo>
                    <a:pt x="8440420" y="510794"/>
                  </a:lnTo>
                  <a:cubicBezTo>
                    <a:pt x="8440420" y="257048"/>
                    <a:pt x="8232267" y="50800"/>
                    <a:pt x="7974965" y="50800"/>
                  </a:cubicBezTo>
                  <a:lnTo>
                    <a:pt x="516255" y="50800"/>
                  </a:lnTo>
                  <a:lnTo>
                    <a:pt x="516255" y="25400"/>
                  </a:lnTo>
                  <a:lnTo>
                    <a:pt x="516255" y="50800"/>
                  </a:lnTo>
                  <a:cubicBezTo>
                    <a:pt x="258953" y="50800"/>
                    <a:pt x="50800" y="257048"/>
                    <a:pt x="50800" y="510794"/>
                  </a:cubicBezTo>
                  <a:close/>
                </a:path>
              </a:pathLst>
            </a:custGeom>
            <a:solidFill>
              <a:srgbClr val="009D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491207" cy="2981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Stable real-time emotion detection in crowded public environments.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5436" y="6293272"/>
            <a:ext cx="6537446" cy="2965028"/>
            <a:chOff x="0" y="0"/>
            <a:chExt cx="8707958" cy="39494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558"/>
              <a:ext cx="8657210" cy="3898273"/>
            </a:xfrm>
            <a:custGeom>
              <a:avLst/>
              <a:gdLst/>
              <a:ahLst/>
              <a:cxnLst/>
              <a:rect r="r" b="b" t="t" l="l"/>
              <a:pathLst>
                <a:path h="3898273" w="8657210">
                  <a:moveTo>
                    <a:pt x="0" y="649691"/>
                  </a:moveTo>
                  <a:cubicBezTo>
                    <a:pt x="0" y="290853"/>
                    <a:pt x="291211" y="0"/>
                    <a:pt x="650367" y="0"/>
                  </a:cubicBezTo>
                  <a:lnTo>
                    <a:pt x="8006842" y="0"/>
                  </a:lnTo>
                  <a:cubicBezTo>
                    <a:pt x="8365999" y="0"/>
                    <a:pt x="8657210" y="290853"/>
                    <a:pt x="8657210" y="649691"/>
                  </a:cubicBezTo>
                  <a:lnTo>
                    <a:pt x="8657210" y="3248582"/>
                  </a:lnTo>
                  <a:cubicBezTo>
                    <a:pt x="8657210" y="3607420"/>
                    <a:pt x="8365999" y="3898273"/>
                    <a:pt x="8006842" y="3898273"/>
                  </a:cubicBezTo>
                  <a:lnTo>
                    <a:pt x="650367" y="3898273"/>
                  </a:lnTo>
                  <a:cubicBezTo>
                    <a:pt x="291211" y="3898401"/>
                    <a:pt x="0" y="3607421"/>
                    <a:pt x="0" y="324858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08010" cy="3949390"/>
            </a:xfrm>
            <a:custGeom>
              <a:avLst/>
              <a:gdLst/>
              <a:ahLst/>
              <a:cxnLst/>
              <a:rect r="r" b="b" t="t" l="l"/>
              <a:pathLst>
                <a:path h="3949390" w="8708010">
                  <a:moveTo>
                    <a:pt x="0" y="675249"/>
                  </a:moveTo>
                  <a:cubicBezTo>
                    <a:pt x="0" y="302226"/>
                    <a:pt x="302768" y="0"/>
                    <a:pt x="675767" y="0"/>
                  </a:cubicBezTo>
                  <a:lnTo>
                    <a:pt x="8032242" y="0"/>
                  </a:lnTo>
                  <a:lnTo>
                    <a:pt x="8032242" y="25558"/>
                  </a:lnTo>
                  <a:lnTo>
                    <a:pt x="8032242" y="0"/>
                  </a:lnTo>
                  <a:cubicBezTo>
                    <a:pt x="8405241" y="0"/>
                    <a:pt x="8708010" y="302226"/>
                    <a:pt x="8708010" y="675249"/>
                  </a:cubicBezTo>
                  <a:lnTo>
                    <a:pt x="8682610" y="675249"/>
                  </a:lnTo>
                  <a:lnTo>
                    <a:pt x="8708010" y="675249"/>
                  </a:lnTo>
                  <a:lnTo>
                    <a:pt x="8708010" y="3274140"/>
                  </a:lnTo>
                  <a:lnTo>
                    <a:pt x="8682610" y="3274140"/>
                  </a:lnTo>
                  <a:lnTo>
                    <a:pt x="8708010" y="3274140"/>
                  </a:lnTo>
                  <a:cubicBezTo>
                    <a:pt x="8708010" y="3647291"/>
                    <a:pt x="8405241" y="3949390"/>
                    <a:pt x="8032242" y="3949390"/>
                  </a:cubicBezTo>
                  <a:lnTo>
                    <a:pt x="8032242" y="3923831"/>
                  </a:lnTo>
                  <a:lnTo>
                    <a:pt x="8032242" y="3949390"/>
                  </a:lnTo>
                  <a:lnTo>
                    <a:pt x="675767" y="3949390"/>
                  </a:lnTo>
                  <a:lnTo>
                    <a:pt x="675767" y="3923831"/>
                  </a:lnTo>
                  <a:lnTo>
                    <a:pt x="675767" y="3949390"/>
                  </a:lnTo>
                  <a:cubicBezTo>
                    <a:pt x="302768" y="3949517"/>
                    <a:pt x="0" y="3647291"/>
                    <a:pt x="0" y="3274140"/>
                  </a:cubicBezTo>
                  <a:lnTo>
                    <a:pt x="0" y="675249"/>
                  </a:lnTo>
                  <a:lnTo>
                    <a:pt x="25400" y="675249"/>
                  </a:lnTo>
                  <a:lnTo>
                    <a:pt x="0" y="675249"/>
                  </a:lnTo>
                  <a:moveTo>
                    <a:pt x="50800" y="675249"/>
                  </a:moveTo>
                  <a:lnTo>
                    <a:pt x="50800" y="3274140"/>
                  </a:lnTo>
                  <a:lnTo>
                    <a:pt x="25400" y="3274140"/>
                  </a:lnTo>
                  <a:lnTo>
                    <a:pt x="50800" y="3274140"/>
                  </a:lnTo>
                  <a:cubicBezTo>
                    <a:pt x="50800" y="3618666"/>
                    <a:pt x="330454" y="3898273"/>
                    <a:pt x="675767" y="3898273"/>
                  </a:cubicBezTo>
                  <a:lnTo>
                    <a:pt x="8032242" y="3898273"/>
                  </a:lnTo>
                  <a:cubicBezTo>
                    <a:pt x="8377555" y="3898273"/>
                    <a:pt x="8657210" y="3618666"/>
                    <a:pt x="8657210" y="3274140"/>
                  </a:cubicBezTo>
                  <a:lnTo>
                    <a:pt x="8657210" y="675249"/>
                  </a:lnTo>
                  <a:cubicBezTo>
                    <a:pt x="8657209" y="330724"/>
                    <a:pt x="8377555" y="51117"/>
                    <a:pt x="8032242" y="51117"/>
                  </a:cubicBezTo>
                  <a:lnTo>
                    <a:pt x="675767" y="51117"/>
                  </a:lnTo>
                  <a:lnTo>
                    <a:pt x="675767" y="25558"/>
                  </a:lnTo>
                  <a:lnTo>
                    <a:pt x="675767" y="51117"/>
                  </a:lnTo>
                  <a:cubicBezTo>
                    <a:pt x="330454" y="51117"/>
                    <a:pt x="50800" y="330724"/>
                    <a:pt x="50800" y="675249"/>
                  </a:cubicBezTo>
                  <a:close/>
                </a:path>
              </a:pathLst>
            </a:custGeom>
            <a:solidFill>
              <a:srgbClr val="0F6FC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8707958" cy="3968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614460" y="2441705"/>
            <a:ext cx="3252530" cy="780450"/>
            <a:chOff x="0" y="0"/>
            <a:chExt cx="4336707" cy="1040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36707" cy="1040600"/>
            </a:xfrm>
            <a:custGeom>
              <a:avLst/>
              <a:gdLst/>
              <a:ahLst/>
              <a:cxnLst/>
              <a:rect r="r" b="b" t="t" l="l"/>
              <a:pathLst>
                <a:path h="1040600" w="4336707">
                  <a:moveTo>
                    <a:pt x="0" y="0"/>
                  </a:moveTo>
                  <a:lnTo>
                    <a:pt x="4336707" y="0"/>
                  </a:lnTo>
                  <a:lnTo>
                    <a:pt x="4336707" y="1040600"/>
                  </a:lnTo>
                  <a:lnTo>
                    <a:pt x="0" y="104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21920" y="41910"/>
              <a:ext cx="4092867" cy="937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B54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Sub-Problem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72587" y="3618138"/>
            <a:ext cx="6939896" cy="4373651"/>
            <a:chOff x="0" y="0"/>
            <a:chExt cx="9253195" cy="58315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25400"/>
              <a:ext cx="9202420" cy="5780659"/>
            </a:xfrm>
            <a:custGeom>
              <a:avLst/>
              <a:gdLst/>
              <a:ahLst/>
              <a:cxnLst/>
              <a:rect r="r" b="b" t="t" l="l"/>
              <a:pathLst>
                <a:path h="5780659" w="9202420">
                  <a:moveTo>
                    <a:pt x="0" y="963422"/>
                  </a:moveTo>
                  <a:cubicBezTo>
                    <a:pt x="0" y="431419"/>
                    <a:pt x="432816" y="0"/>
                    <a:pt x="966597" y="0"/>
                  </a:cubicBezTo>
                  <a:lnTo>
                    <a:pt x="8235823" y="0"/>
                  </a:lnTo>
                  <a:cubicBezTo>
                    <a:pt x="8769604" y="0"/>
                    <a:pt x="9202420" y="431419"/>
                    <a:pt x="9202420" y="963422"/>
                  </a:cubicBezTo>
                  <a:lnTo>
                    <a:pt x="9202420" y="4817237"/>
                  </a:lnTo>
                  <a:cubicBezTo>
                    <a:pt x="9202420" y="5349367"/>
                    <a:pt x="8769604" y="5780659"/>
                    <a:pt x="8235823" y="5780659"/>
                  </a:cubicBezTo>
                  <a:lnTo>
                    <a:pt x="966597" y="5780659"/>
                  </a:lnTo>
                  <a:cubicBezTo>
                    <a:pt x="432816" y="5780786"/>
                    <a:pt x="0" y="5349367"/>
                    <a:pt x="0" y="48172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53220" cy="5831459"/>
            </a:xfrm>
            <a:custGeom>
              <a:avLst/>
              <a:gdLst/>
              <a:ahLst/>
              <a:cxnLst/>
              <a:rect r="r" b="b" t="t" l="l"/>
              <a:pathLst>
                <a:path h="5831459" w="9253220">
                  <a:moveTo>
                    <a:pt x="0" y="988822"/>
                  </a:moveTo>
                  <a:cubicBezTo>
                    <a:pt x="0" y="442595"/>
                    <a:pt x="444246" y="0"/>
                    <a:pt x="991997" y="0"/>
                  </a:cubicBezTo>
                  <a:lnTo>
                    <a:pt x="8261223" y="0"/>
                  </a:lnTo>
                  <a:lnTo>
                    <a:pt x="8261223" y="25400"/>
                  </a:lnTo>
                  <a:lnTo>
                    <a:pt x="8261223" y="0"/>
                  </a:lnTo>
                  <a:cubicBezTo>
                    <a:pt x="8808974" y="0"/>
                    <a:pt x="9253220" y="442595"/>
                    <a:pt x="9253220" y="988822"/>
                  </a:cubicBezTo>
                  <a:lnTo>
                    <a:pt x="9227820" y="988822"/>
                  </a:lnTo>
                  <a:lnTo>
                    <a:pt x="9253220" y="988822"/>
                  </a:lnTo>
                  <a:lnTo>
                    <a:pt x="9253220" y="4842637"/>
                  </a:lnTo>
                  <a:lnTo>
                    <a:pt x="9227820" y="4842637"/>
                  </a:lnTo>
                  <a:lnTo>
                    <a:pt x="9253220" y="4842637"/>
                  </a:lnTo>
                  <a:cubicBezTo>
                    <a:pt x="9253220" y="5388864"/>
                    <a:pt x="8808974" y="5831459"/>
                    <a:pt x="8261223" y="5831459"/>
                  </a:cubicBezTo>
                  <a:lnTo>
                    <a:pt x="8261223" y="5806059"/>
                  </a:lnTo>
                  <a:lnTo>
                    <a:pt x="8261223" y="5831459"/>
                  </a:lnTo>
                  <a:lnTo>
                    <a:pt x="991997" y="5831459"/>
                  </a:lnTo>
                  <a:lnTo>
                    <a:pt x="991997" y="5806059"/>
                  </a:lnTo>
                  <a:lnTo>
                    <a:pt x="991997" y="5831459"/>
                  </a:lnTo>
                  <a:cubicBezTo>
                    <a:pt x="444246" y="5831586"/>
                    <a:pt x="0" y="5388864"/>
                    <a:pt x="0" y="4842637"/>
                  </a:cubicBezTo>
                  <a:lnTo>
                    <a:pt x="0" y="988822"/>
                  </a:lnTo>
                  <a:lnTo>
                    <a:pt x="25400" y="988822"/>
                  </a:lnTo>
                  <a:lnTo>
                    <a:pt x="0" y="988822"/>
                  </a:lnTo>
                  <a:moveTo>
                    <a:pt x="50800" y="988822"/>
                  </a:moveTo>
                  <a:lnTo>
                    <a:pt x="50800" y="4842637"/>
                  </a:lnTo>
                  <a:lnTo>
                    <a:pt x="25400" y="4842637"/>
                  </a:lnTo>
                  <a:lnTo>
                    <a:pt x="50800" y="4842637"/>
                  </a:lnTo>
                  <a:cubicBezTo>
                    <a:pt x="50800" y="5360670"/>
                    <a:pt x="472059" y="5780659"/>
                    <a:pt x="991997" y="5780659"/>
                  </a:cubicBezTo>
                  <a:lnTo>
                    <a:pt x="8261223" y="5780659"/>
                  </a:lnTo>
                  <a:cubicBezTo>
                    <a:pt x="8781161" y="5780659"/>
                    <a:pt x="9202420" y="5360543"/>
                    <a:pt x="9202420" y="4842637"/>
                  </a:cubicBezTo>
                  <a:lnTo>
                    <a:pt x="9202420" y="988822"/>
                  </a:lnTo>
                  <a:cubicBezTo>
                    <a:pt x="9202420" y="470916"/>
                    <a:pt x="8781034" y="50800"/>
                    <a:pt x="8261223" y="50800"/>
                  </a:cubicBezTo>
                  <a:lnTo>
                    <a:pt x="991997" y="50800"/>
                  </a:lnTo>
                  <a:lnTo>
                    <a:pt x="991997" y="25400"/>
                  </a:lnTo>
                  <a:lnTo>
                    <a:pt x="991997" y="50800"/>
                  </a:lnTo>
                  <a:cubicBezTo>
                    <a:pt x="472059" y="50800"/>
                    <a:pt x="50800" y="470916"/>
                    <a:pt x="50800" y="988822"/>
                  </a:cubicBezTo>
                  <a:close/>
                </a:path>
              </a:pathLst>
            </a:custGeom>
            <a:solidFill>
              <a:srgbClr val="0BD0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9253195" cy="5850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3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926538" y="3063631"/>
            <a:ext cx="4345105" cy="780450"/>
            <a:chOff x="0" y="0"/>
            <a:chExt cx="5793473" cy="1040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93473" cy="1040600"/>
            </a:xfrm>
            <a:custGeom>
              <a:avLst/>
              <a:gdLst/>
              <a:ahLst/>
              <a:cxnLst/>
              <a:rect r="r" b="b" t="t" l="l"/>
              <a:pathLst>
                <a:path h="1040600" w="5793473">
                  <a:moveTo>
                    <a:pt x="0" y="0"/>
                  </a:moveTo>
                  <a:lnTo>
                    <a:pt x="5793473" y="0"/>
                  </a:lnTo>
                  <a:lnTo>
                    <a:pt x="5793473" y="1040600"/>
                  </a:lnTo>
                  <a:lnTo>
                    <a:pt x="0" y="104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121920" y="41910"/>
              <a:ext cx="5549633" cy="937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B54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Solution Approach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41249" y="5921131"/>
            <a:ext cx="5521728" cy="780450"/>
            <a:chOff x="0" y="0"/>
            <a:chExt cx="7362304" cy="1040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62304" cy="1040600"/>
            </a:xfrm>
            <a:custGeom>
              <a:avLst/>
              <a:gdLst/>
              <a:ahLst/>
              <a:cxnLst/>
              <a:rect r="r" b="b" t="t" l="l"/>
              <a:pathLst>
                <a:path h="1040600" w="7362304">
                  <a:moveTo>
                    <a:pt x="0" y="0"/>
                  </a:moveTo>
                  <a:lnTo>
                    <a:pt x="7362304" y="0"/>
                  </a:lnTo>
                  <a:lnTo>
                    <a:pt x="7362304" y="1040600"/>
                  </a:lnTo>
                  <a:lnTo>
                    <a:pt x="0" y="104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121920" y="41910"/>
              <a:ext cx="7118464" cy="937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B54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User Requirements Met 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7854382" y="3751364"/>
            <a:ext cx="2803665" cy="593788"/>
          </a:xfrm>
          <a:custGeom>
            <a:avLst/>
            <a:gdLst/>
            <a:ahLst/>
            <a:cxnLst/>
            <a:rect r="r" b="b" t="t" l="l"/>
            <a:pathLst>
              <a:path h="593788" w="2803665">
                <a:moveTo>
                  <a:pt x="0" y="0"/>
                </a:moveTo>
                <a:lnTo>
                  <a:pt x="2803664" y="0"/>
                </a:lnTo>
                <a:lnTo>
                  <a:pt x="2803664" y="593789"/>
                </a:lnTo>
                <a:lnTo>
                  <a:pt x="0" y="5937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904807" y="6894614"/>
            <a:ext cx="2803665" cy="593788"/>
          </a:xfrm>
          <a:custGeom>
            <a:avLst/>
            <a:gdLst/>
            <a:ahLst/>
            <a:cxnLst/>
            <a:rect r="r" b="b" t="t" l="l"/>
            <a:pathLst>
              <a:path h="593788" w="2803665">
                <a:moveTo>
                  <a:pt x="0" y="0"/>
                </a:moveTo>
                <a:lnTo>
                  <a:pt x="2803665" y="0"/>
                </a:lnTo>
                <a:lnTo>
                  <a:pt x="2803665" y="593789"/>
                </a:lnTo>
                <a:lnTo>
                  <a:pt x="0" y="5937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2026792" y="756942"/>
            <a:ext cx="3247414" cy="3298514"/>
          </a:xfrm>
          <a:custGeom>
            <a:avLst/>
            <a:gdLst/>
            <a:ahLst/>
            <a:cxnLst/>
            <a:rect r="r" b="b" t="t" l="l"/>
            <a:pathLst>
              <a:path h="3298514" w="3247414">
                <a:moveTo>
                  <a:pt x="0" y="0"/>
                </a:moveTo>
                <a:lnTo>
                  <a:pt x="3247414" y="0"/>
                </a:lnTo>
                <a:lnTo>
                  <a:pt x="3247414" y="3298514"/>
                </a:lnTo>
                <a:lnTo>
                  <a:pt x="0" y="329851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7639530" y="6724076"/>
            <a:ext cx="3247414" cy="3298513"/>
          </a:xfrm>
          <a:custGeom>
            <a:avLst/>
            <a:gdLst/>
            <a:ahLst/>
            <a:cxnLst/>
            <a:rect r="r" b="b" t="t" l="l"/>
            <a:pathLst>
              <a:path h="3298513" w="3247414">
                <a:moveTo>
                  <a:pt x="0" y="0"/>
                </a:moveTo>
                <a:lnTo>
                  <a:pt x="3247415" y="0"/>
                </a:lnTo>
                <a:lnTo>
                  <a:pt x="3247415" y="3298513"/>
                </a:lnTo>
                <a:lnTo>
                  <a:pt x="0" y="32985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6859879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7493" y="6845332"/>
            <a:ext cx="6370482" cy="268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2348" indent="-381174" lvl="1">
              <a:lnSpc>
                <a:spcPts val="4237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53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Real-time &amp; multi-person</a:t>
            </a:r>
          </a:p>
          <a:p>
            <a:pPr algn="just" marL="762348" indent="-381174" lvl="1">
              <a:lnSpc>
                <a:spcPts val="4237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Stable outputs</a:t>
            </a:r>
          </a:p>
          <a:p>
            <a:pPr algn="just" marL="762348" indent="-381174" lvl="1">
              <a:lnSpc>
                <a:spcPts val="4237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Context-aware handling</a:t>
            </a:r>
          </a:p>
          <a:p>
            <a:pPr algn="just" marL="762348" indent="-381174" lvl="1">
              <a:lnSpc>
                <a:spcPts val="4237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Integration-ready</a:t>
            </a:r>
          </a:p>
          <a:p>
            <a:pPr algn="just">
              <a:lnSpc>
                <a:spcPts val="4237"/>
              </a:lnSpc>
              <a:spcBef>
                <a:spcPct val="0"/>
              </a:spcBef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0872587" y="4673356"/>
            <a:ext cx="6939896" cy="288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ustom CNN (6 emotions)</a:t>
            </a: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OpenCV &amp; MediaPipe face detection</a:t>
            </a: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Temporal smoothing with 10-second aggregation</a:t>
            </a: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Majority-based decision</a:t>
            </a: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Dual-output decision logic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440" r="-2568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2194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1/6/26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190"/>
            <a:ext cx="18288000" cy="9337710"/>
          </a:xfrm>
          <a:custGeom>
            <a:avLst/>
            <a:gdLst/>
            <a:ahLst/>
            <a:cxnLst/>
            <a:rect r="r" b="b" t="t" l="l"/>
            <a:pathLst>
              <a:path h="9337710" w="18288000">
                <a:moveTo>
                  <a:pt x="0" y="0"/>
                </a:moveTo>
                <a:lnTo>
                  <a:pt x="18288000" y="0"/>
                </a:lnTo>
                <a:lnTo>
                  <a:pt x="18288000" y="9337710"/>
                </a:lnTo>
                <a:lnTo>
                  <a:pt x="0" y="93377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081" r="0" b="-508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948655" y="9739312"/>
            <a:ext cx="10224545" cy="547688"/>
            <a:chOff x="0" y="0"/>
            <a:chExt cx="13632726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32731" cy="730250"/>
            </a:xfrm>
            <a:custGeom>
              <a:avLst/>
              <a:gdLst/>
              <a:ahLst/>
              <a:cxnLst/>
              <a:rect r="r" b="b" t="t" l="l"/>
              <a:pathLst>
                <a:path h="730250" w="13632731">
                  <a:moveTo>
                    <a:pt x="0" y="0"/>
                  </a:moveTo>
                  <a:lnTo>
                    <a:pt x="13632731" y="0"/>
                  </a:lnTo>
                  <a:lnTo>
                    <a:pt x="13632731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3757" r="0" b="-3137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363272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IT22258526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|</a:t>
              </a: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SAMARAWEERA W D U I  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25 – 26J- 091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1872" y="-69837"/>
            <a:ext cx="17465040" cy="2141430"/>
            <a:chOff x="0" y="0"/>
            <a:chExt cx="23286720" cy="28552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286720" cy="2855236"/>
            </a:xfrm>
            <a:custGeom>
              <a:avLst/>
              <a:gdLst/>
              <a:ahLst/>
              <a:cxnLst/>
              <a:rect r="r" b="b" t="t" l="l"/>
              <a:pathLst>
                <a:path h="2855236" w="23286720">
                  <a:moveTo>
                    <a:pt x="0" y="0"/>
                  </a:moveTo>
                  <a:lnTo>
                    <a:pt x="23286720" y="0"/>
                  </a:lnTo>
                  <a:lnTo>
                    <a:pt x="23286720" y="2855236"/>
                  </a:lnTo>
                  <a:lnTo>
                    <a:pt x="0" y="28552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915" r="0" b="-1089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3286720" cy="2874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EMOTION DETECTION WITH  DOMAIN-SPECIFIC CLASSIFICATION FOR </a:t>
              </a:r>
            </a:p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ADAPTIVE ADS AND SECURITY ALERTS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71037" y="2905811"/>
            <a:ext cx="436858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30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Modular architecture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3853" y="4112409"/>
            <a:ext cx="3885628" cy="140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Detection, aggregation, routing, and alerting separated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0769" y="6052976"/>
            <a:ext cx="396517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30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Temporal reasoning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63170" y="7360425"/>
            <a:ext cx="3230089" cy="140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Emotions aggregated over time/crowd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71752" y="2826372"/>
            <a:ext cx="418368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30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Dual-output pipeline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26279" y="4117019"/>
            <a:ext cx="3230089" cy="94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Security &amp; ad logic isolated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85617" y="2877950"/>
            <a:ext cx="592097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30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Integration-safe data contract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690312" y="4138536"/>
            <a:ext cx="5437794" cy="1384992"/>
            <a:chOff x="0" y="0"/>
            <a:chExt cx="7250392" cy="1846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50396" cy="1846660"/>
            </a:xfrm>
            <a:custGeom>
              <a:avLst/>
              <a:gdLst/>
              <a:ahLst/>
              <a:cxnLst/>
              <a:rect r="r" b="b" t="t" l="l"/>
              <a:pathLst>
                <a:path h="1846660" w="7250396">
                  <a:moveTo>
                    <a:pt x="0" y="0"/>
                  </a:moveTo>
                  <a:lnTo>
                    <a:pt x="7250396" y="0"/>
                  </a:lnTo>
                  <a:lnTo>
                    <a:pt x="7250396" y="1846660"/>
                  </a:lnTo>
                  <a:lnTo>
                    <a:pt x="0" y="18466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02" r="0" b="-2650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250392" cy="18657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MongoDB schema enables seamless fusion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190389" y="6045556"/>
            <a:ext cx="485604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30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R</a:t>
            </a:r>
            <a:r>
              <a:rPr lang="en-US" sz="30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ule-based decision logic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92789" y="7353014"/>
            <a:ext cx="4853645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used to separate security-critical emotions from advertisement-safe emotions.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2590" y="2017862"/>
            <a:ext cx="1105923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B3EAF2"/>
                </a:solidFill>
                <a:latin typeface="Cambria Bold"/>
                <a:ea typeface="Cambria Bold"/>
                <a:cs typeface="Cambria Bold"/>
                <a:sym typeface="Cambria Bold"/>
              </a:rPr>
              <a:t>Design Excellence / Technical Contribution</a:t>
            </a:r>
          </a:p>
          <a:p>
            <a:pPr algn="ctr">
              <a:lnSpc>
                <a:spcPts val="5040"/>
              </a:lnSpc>
            </a:pPr>
          </a:p>
        </p:txBody>
      </p:sp>
      <p:sp>
        <p:nvSpPr>
          <p:cNvPr name="Freeform 24" id="24" descr="A digital display in a mall  AI-generated content may be incorrect."/>
          <p:cNvSpPr/>
          <p:nvPr/>
        </p:nvSpPr>
        <p:spPr>
          <a:xfrm flipH="false" flipV="false" rot="0">
            <a:off x="7283977" y="5650306"/>
            <a:ext cx="3337560" cy="3450565"/>
          </a:xfrm>
          <a:custGeom>
            <a:avLst/>
            <a:gdLst/>
            <a:ahLst/>
            <a:cxnLst/>
            <a:rect r="r" b="b" t="t" l="l"/>
            <a:pathLst>
              <a:path h="3450565" w="3337560">
                <a:moveTo>
                  <a:pt x="0" y="0"/>
                </a:moveTo>
                <a:lnTo>
                  <a:pt x="3337560" y="0"/>
                </a:lnTo>
                <a:lnTo>
                  <a:pt x="3337560" y="3450565"/>
                </a:lnTo>
                <a:lnTo>
                  <a:pt x="0" y="34505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7" r="0" b="-67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2978334" y="1607887"/>
            <a:ext cx="12328360" cy="124539"/>
            <a:chOff x="0" y="0"/>
            <a:chExt cx="16437813" cy="1660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5273" y="0"/>
              <a:ext cx="16387319" cy="166116"/>
            </a:xfrm>
            <a:custGeom>
              <a:avLst/>
              <a:gdLst/>
              <a:ahLst/>
              <a:cxnLst/>
              <a:rect r="r" b="b" t="t" l="l"/>
              <a:pathLst>
                <a:path h="166116" w="16387319">
                  <a:moveTo>
                    <a:pt x="0" y="115316"/>
                  </a:moveTo>
                  <a:lnTo>
                    <a:pt x="16386938" y="0"/>
                  </a:lnTo>
                  <a:lnTo>
                    <a:pt x="16387319" y="50800"/>
                  </a:lnTo>
                  <a:lnTo>
                    <a:pt x="254" y="166116"/>
                  </a:lnTo>
                  <a:close/>
                </a:path>
              </a:pathLst>
            </a:custGeom>
            <a:solidFill>
              <a:srgbClr val="ECF0F1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6664619" y="5799590"/>
            <a:ext cx="3247414" cy="3298514"/>
          </a:xfrm>
          <a:custGeom>
            <a:avLst/>
            <a:gdLst/>
            <a:ahLst/>
            <a:cxnLst/>
            <a:rect r="r" b="b" t="t" l="l"/>
            <a:pathLst>
              <a:path h="3298514" w="3247414">
                <a:moveTo>
                  <a:pt x="0" y="0"/>
                </a:moveTo>
                <a:lnTo>
                  <a:pt x="3247414" y="0"/>
                </a:lnTo>
                <a:lnTo>
                  <a:pt x="3247414" y="3298513"/>
                </a:lnTo>
                <a:lnTo>
                  <a:pt x="0" y="32985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6870680" y="987028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440" r="-2568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2194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1/6/26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182850" y="209550"/>
            <a:ext cx="3009900" cy="3467100"/>
            <a:chOff x="0" y="0"/>
            <a:chExt cx="4013200" cy="462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39624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13200" cy="4622800"/>
            </a:xfrm>
            <a:custGeom>
              <a:avLst/>
              <a:gdLst/>
              <a:ahLst/>
              <a:cxnLst/>
              <a:rect r="r" b="b" t="t" l="l"/>
              <a:pathLst>
                <a:path h="4622800" w="4013200">
                  <a:moveTo>
                    <a:pt x="25400" y="0"/>
                  </a:moveTo>
                  <a:lnTo>
                    <a:pt x="3987800" y="0"/>
                  </a:lnTo>
                  <a:cubicBezTo>
                    <a:pt x="4001770" y="0"/>
                    <a:pt x="4013200" y="11430"/>
                    <a:pt x="4013200" y="25400"/>
                  </a:cubicBezTo>
                  <a:lnTo>
                    <a:pt x="4013200" y="4597400"/>
                  </a:lnTo>
                  <a:cubicBezTo>
                    <a:pt x="4013200" y="4611370"/>
                    <a:pt x="4001770" y="4622800"/>
                    <a:pt x="3987800" y="4622800"/>
                  </a:cubicBezTo>
                  <a:lnTo>
                    <a:pt x="25400" y="4622800"/>
                  </a:lnTo>
                  <a:cubicBezTo>
                    <a:pt x="11430" y="4622800"/>
                    <a:pt x="0" y="4611370"/>
                    <a:pt x="0" y="459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597400"/>
                  </a:lnTo>
                  <a:lnTo>
                    <a:pt x="25400" y="4597400"/>
                  </a:lnTo>
                  <a:lnTo>
                    <a:pt x="25400" y="4572000"/>
                  </a:lnTo>
                  <a:lnTo>
                    <a:pt x="3987800" y="4572000"/>
                  </a:lnTo>
                  <a:lnTo>
                    <a:pt x="3987800" y="4597400"/>
                  </a:lnTo>
                  <a:lnTo>
                    <a:pt x="3962400" y="4597400"/>
                  </a:lnTo>
                  <a:lnTo>
                    <a:pt x="3962400" y="25400"/>
                  </a:lnTo>
                  <a:lnTo>
                    <a:pt x="3987800" y="25400"/>
                  </a:lnTo>
                  <a:lnTo>
                    <a:pt x="39878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013200" cy="464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Student Must add a professional photo to this cage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190"/>
            <a:ext cx="18272341" cy="9535058"/>
          </a:xfrm>
          <a:custGeom>
            <a:avLst/>
            <a:gdLst/>
            <a:ahLst/>
            <a:cxnLst/>
            <a:rect r="r" b="b" t="t" l="l"/>
            <a:pathLst>
              <a:path h="9535058" w="18272341">
                <a:moveTo>
                  <a:pt x="0" y="0"/>
                </a:moveTo>
                <a:lnTo>
                  <a:pt x="18272341" y="0"/>
                </a:lnTo>
                <a:lnTo>
                  <a:pt x="18272341" y="9535059"/>
                </a:lnTo>
                <a:lnTo>
                  <a:pt x="0" y="95350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94" r="0" b="-3894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8680" y="3910258"/>
            <a:ext cx="16368436" cy="3343759"/>
            <a:chOff x="0" y="0"/>
            <a:chExt cx="21824582" cy="44583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824576" cy="4458345"/>
            </a:xfrm>
            <a:custGeom>
              <a:avLst/>
              <a:gdLst/>
              <a:ahLst/>
              <a:cxnLst/>
              <a:rect r="r" b="b" t="t" l="l"/>
              <a:pathLst>
                <a:path h="4458345" w="21824576">
                  <a:moveTo>
                    <a:pt x="0" y="0"/>
                  </a:moveTo>
                  <a:lnTo>
                    <a:pt x="21824576" y="0"/>
                  </a:lnTo>
                  <a:lnTo>
                    <a:pt x="21824576" y="4458345"/>
                  </a:lnTo>
                  <a:lnTo>
                    <a:pt x="0" y="44583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832" r="0" b="-259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824582" cy="449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REAL-TIME ENGAGEMENT DETE</a:t>
              </a:r>
              <a:r>
                <a:rPr lang="en-US" sz="6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CTION AND BEHAVIORAL ANOMALY INTEGRATION FOR ADAPTIVE ADS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68680" y="7234966"/>
            <a:ext cx="1536192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8E8E8E"/>
                </a:solidFill>
                <a:latin typeface="Cambria"/>
                <a:ea typeface="Cambria"/>
                <a:cs typeface="Cambria"/>
                <a:sym typeface="Cambria"/>
              </a:rPr>
              <a:t>B.S</a:t>
            </a:r>
            <a:r>
              <a:rPr lang="en-US" sz="2700">
                <a:solidFill>
                  <a:srgbClr val="8E8E8E"/>
                </a:solidFill>
                <a:latin typeface="Cambria"/>
                <a:ea typeface="Cambria"/>
                <a:cs typeface="Cambria"/>
                <a:sym typeface="Cambria"/>
              </a:rPr>
              <a:t>c. (Hons) in Informati</a:t>
            </a:r>
            <a:r>
              <a:rPr lang="en-US" sz="2700">
                <a:solidFill>
                  <a:srgbClr val="8E8E8E"/>
                </a:solidFill>
                <a:latin typeface="Cambria"/>
                <a:ea typeface="Cambria"/>
                <a:cs typeface="Cambria"/>
                <a:sym typeface="Cambria"/>
              </a:rPr>
              <a:t>on </a:t>
            </a:r>
            <a:r>
              <a:rPr lang="en-US" sz="2700">
                <a:solidFill>
                  <a:srgbClr val="8E8E8E"/>
                </a:solidFill>
                <a:latin typeface="Cambria"/>
                <a:ea typeface="Cambria"/>
                <a:cs typeface="Cambria"/>
                <a:sym typeface="Cambria"/>
              </a:rPr>
              <a:t>Technol</a:t>
            </a:r>
            <a:r>
              <a:rPr lang="en-US" sz="2700">
                <a:solidFill>
                  <a:srgbClr val="8E8E8E"/>
                </a:solidFill>
                <a:latin typeface="Cambria"/>
                <a:ea typeface="Cambria"/>
                <a:cs typeface="Cambria"/>
                <a:sym typeface="Cambria"/>
              </a:rPr>
              <a:t>ogy specializing </a:t>
            </a:r>
            <a:r>
              <a:rPr lang="en-US" sz="2700">
                <a:solidFill>
                  <a:srgbClr val="8E8E8E"/>
                </a:solidFill>
                <a:latin typeface="Cambria"/>
                <a:ea typeface="Cambria"/>
                <a:cs typeface="Cambria"/>
                <a:sym typeface="Cambria"/>
              </a:rPr>
              <a:t>in Data Science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948655" y="9739312"/>
            <a:ext cx="10224545" cy="547688"/>
            <a:chOff x="0" y="0"/>
            <a:chExt cx="13632726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632731" cy="730250"/>
            </a:xfrm>
            <a:custGeom>
              <a:avLst/>
              <a:gdLst/>
              <a:ahLst/>
              <a:cxnLst/>
              <a:rect r="r" b="b" t="t" l="l"/>
              <a:pathLst>
                <a:path h="730250" w="13632731">
                  <a:moveTo>
                    <a:pt x="0" y="0"/>
                  </a:moveTo>
                  <a:lnTo>
                    <a:pt x="13632731" y="0"/>
                  </a:lnTo>
                  <a:lnTo>
                    <a:pt x="13632731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3757" r="0" b="-31375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363272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IT22184030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</a:t>
              </a: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Abeykoon S N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 | 25 – 26J- 091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103926" y="202111"/>
            <a:ext cx="3174273" cy="3544681"/>
          </a:xfrm>
          <a:custGeom>
            <a:avLst/>
            <a:gdLst/>
            <a:ahLst/>
            <a:cxnLst/>
            <a:rect r="r" b="b" t="t" l="l"/>
            <a:pathLst>
              <a:path h="3544681" w="3174273">
                <a:moveTo>
                  <a:pt x="0" y="0"/>
                </a:moveTo>
                <a:lnTo>
                  <a:pt x="3174273" y="0"/>
                </a:lnTo>
                <a:lnTo>
                  <a:pt x="3174273" y="3544681"/>
                </a:lnTo>
                <a:lnTo>
                  <a:pt x="0" y="3544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007" t="-1381" r="-15226" b="-4654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897988" y="9851126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440" r="-2568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2194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1/6/26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-13954"/>
            <a:ext cx="18288000" cy="9566377"/>
          </a:xfrm>
          <a:custGeom>
            <a:avLst/>
            <a:gdLst/>
            <a:ahLst/>
            <a:cxnLst/>
            <a:rect r="r" b="b" t="t" l="l"/>
            <a:pathLst>
              <a:path h="9566377" w="18288000">
                <a:moveTo>
                  <a:pt x="0" y="0"/>
                </a:moveTo>
                <a:lnTo>
                  <a:pt x="18288000" y="0"/>
                </a:lnTo>
                <a:lnTo>
                  <a:pt x="18288000" y="9566376"/>
                </a:lnTo>
                <a:lnTo>
                  <a:pt x="0" y="95663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764" r="0" b="-3764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68300" y="229276"/>
            <a:ext cx="18022195" cy="1594260"/>
            <a:chOff x="0" y="0"/>
            <a:chExt cx="24029594" cy="2125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029597" cy="2125685"/>
            </a:xfrm>
            <a:custGeom>
              <a:avLst/>
              <a:gdLst/>
              <a:ahLst/>
              <a:cxnLst/>
              <a:rect r="r" b="b" t="t" l="l"/>
              <a:pathLst>
                <a:path h="2125685" w="24029597">
                  <a:moveTo>
                    <a:pt x="0" y="0"/>
                  </a:moveTo>
                  <a:lnTo>
                    <a:pt x="24029597" y="0"/>
                  </a:lnTo>
                  <a:lnTo>
                    <a:pt x="24029597" y="2125685"/>
                  </a:lnTo>
                  <a:lnTo>
                    <a:pt x="0" y="21256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266" r="0" b="-17026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4029594" cy="2144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FEFE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REAL-TIME ENGAGEMENT DETE</a:t>
              </a:r>
              <a:r>
                <a:rPr lang="en-US" sz="3450" b="true">
                  <a:solidFill>
                    <a:srgbClr val="FEFE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CTION AND BEHAVIORAL ANOMALY INTEGRATION FOR ADAPTIVE ADS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48655" y="9739312"/>
            <a:ext cx="10224545" cy="547688"/>
            <a:chOff x="0" y="0"/>
            <a:chExt cx="13632726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32731" cy="730250"/>
            </a:xfrm>
            <a:custGeom>
              <a:avLst/>
              <a:gdLst/>
              <a:ahLst/>
              <a:cxnLst/>
              <a:rect r="r" b="b" t="t" l="l"/>
              <a:pathLst>
                <a:path h="730250" w="13632731">
                  <a:moveTo>
                    <a:pt x="0" y="0"/>
                  </a:moveTo>
                  <a:lnTo>
                    <a:pt x="13632731" y="0"/>
                  </a:lnTo>
                  <a:lnTo>
                    <a:pt x="13632731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3757" r="0" b="-3137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363272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IT22184030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 </a:t>
              </a: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Abeykoon S N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 | 25 – 26J- 091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08720" y="2720121"/>
            <a:ext cx="6486058" cy="2322976"/>
            <a:chOff x="0" y="0"/>
            <a:chExt cx="8648078" cy="30973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8597264" cy="3046476"/>
            </a:xfrm>
            <a:custGeom>
              <a:avLst/>
              <a:gdLst/>
              <a:ahLst/>
              <a:cxnLst/>
              <a:rect r="r" b="b" t="t" l="l"/>
              <a:pathLst>
                <a:path h="3046476" w="8597264">
                  <a:moveTo>
                    <a:pt x="0" y="507746"/>
                  </a:moveTo>
                  <a:cubicBezTo>
                    <a:pt x="0" y="227330"/>
                    <a:pt x="229743" y="0"/>
                    <a:pt x="513207" y="0"/>
                  </a:cubicBezTo>
                  <a:lnTo>
                    <a:pt x="8084058" y="0"/>
                  </a:lnTo>
                  <a:cubicBezTo>
                    <a:pt x="8367522" y="0"/>
                    <a:pt x="8597264" y="227330"/>
                    <a:pt x="8597264" y="507746"/>
                  </a:cubicBezTo>
                  <a:lnTo>
                    <a:pt x="8597264" y="2538730"/>
                  </a:lnTo>
                  <a:cubicBezTo>
                    <a:pt x="8597264" y="2819146"/>
                    <a:pt x="8367522" y="3046476"/>
                    <a:pt x="8084058" y="3046476"/>
                  </a:cubicBezTo>
                  <a:lnTo>
                    <a:pt x="513207" y="3046476"/>
                  </a:lnTo>
                  <a:cubicBezTo>
                    <a:pt x="229743" y="3046476"/>
                    <a:pt x="0" y="2819146"/>
                    <a:pt x="0" y="25387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48064" cy="3097276"/>
            </a:xfrm>
            <a:custGeom>
              <a:avLst/>
              <a:gdLst/>
              <a:ahLst/>
              <a:cxnLst/>
              <a:rect r="r" b="b" t="t" l="l"/>
              <a:pathLst>
                <a:path h="3097276" w="8648064">
                  <a:moveTo>
                    <a:pt x="0" y="533146"/>
                  </a:moveTo>
                  <a:cubicBezTo>
                    <a:pt x="0" y="238506"/>
                    <a:pt x="241427" y="0"/>
                    <a:pt x="538607" y="0"/>
                  </a:cubicBezTo>
                  <a:lnTo>
                    <a:pt x="8109458" y="0"/>
                  </a:lnTo>
                  <a:lnTo>
                    <a:pt x="8109458" y="25400"/>
                  </a:lnTo>
                  <a:lnTo>
                    <a:pt x="8109458" y="0"/>
                  </a:lnTo>
                  <a:cubicBezTo>
                    <a:pt x="8406638" y="0"/>
                    <a:pt x="8648064" y="238506"/>
                    <a:pt x="8648064" y="533146"/>
                  </a:cubicBezTo>
                  <a:lnTo>
                    <a:pt x="8622664" y="533146"/>
                  </a:lnTo>
                  <a:lnTo>
                    <a:pt x="8648064" y="533146"/>
                  </a:lnTo>
                  <a:lnTo>
                    <a:pt x="8648064" y="2564130"/>
                  </a:lnTo>
                  <a:lnTo>
                    <a:pt x="8622664" y="2564130"/>
                  </a:lnTo>
                  <a:lnTo>
                    <a:pt x="8648064" y="2564130"/>
                  </a:lnTo>
                  <a:cubicBezTo>
                    <a:pt x="8648064" y="2858897"/>
                    <a:pt x="8406638" y="3097276"/>
                    <a:pt x="8109458" y="3097276"/>
                  </a:cubicBezTo>
                  <a:lnTo>
                    <a:pt x="8109458" y="3071876"/>
                  </a:lnTo>
                  <a:lnTo>
                    <a:pt x="8109458" y="3097276"/>
                  </a:lnTo>
                  <a:lnTo>
                    <a:pt x="538607" y="3097276"/>
                  </a:lnTo>
                  <a:lnTo>
                    <a:pt x="538607" y="3071876"/>
                  </a:lnTo>
                  <a:lnTo>
                    <a:pt x="538607" y="3097276"/>
                  </a:lnTo>
                  <a:cubicBezTo>
                    <a:pt x="241427" y="3097276"/>
                    <a:pt x="0" y="2858897"/>
                    <a:pt x="0" y="2564130"/>
                  </a:cubicBezTo>
                  <a:lnTo>
                    <a:pt x="0" y="533146"/>
                  </a:lnTo>
                  <a:lnTo>
                    <a:pt x="25400" y="533146"/>
                  </a:lnTo>
                  <a:lnTo>
                    <a:pt x="0" y="533146"/>
                  </a:lnTo>
                  <a:moveTo>
                    <a:pt x="50800" y="533146"/>
                  </a:moveTo>
                  <a:lnTo>
                    <a:pt x="50800" y="2564130"/>
                  </a:lnTo>
                  <a:lnTo>
                    <a:pt x="25400" y="2564130"/>
                  </a:lnTo>
                  <a:lnTo>
                    <a:pt x="50800" y="2564130"/>
                  </a:lnTo>
                  <a:cubicBezTo>
                    <a:pt x="50800" y="2830322"/>
                    <a:pt x="268986" y="3046476"/>
                    <a:pt x="538607" y="3046476"/>
                  </a:cubicBezTo>
                  <a:lnTo>
                    <a:pt x="8109458" y="3046476"/>
                  </a:lnTo>
                  <a:cubicBezTo>
                    <a:pt x="8379078" y="3046476"/>
                    <a:pt x="8597264" y="2830322"/>
                    <a:pt x="8597264" y="2564130"/>
                  </a:cubicBezTo>
                  <a:lnTo>
                    <a:pt x="8597264" y="533146"/>
                  </a:lnTo>
                  <a:cubicBezTo>
                    <a:pt x="8597265" y="266954"/>
                    <a:pt x="8379206" y="50800"/>
                    <a:pt x="8109458" y="50800"/>
                  </a:cubicBezTo>
                  <a:lnTo>
                    <a:pt x="538607" y="50800"/>
                  </a:lnTo>
                  <a:lnTo>
                    <a:pt x="538607" y="25400"/>
                  </a:lnTo>
                  <a:lnTo>
                    <a:pt x="538607" y="50800"/>
                  </a:lnTo>
                  <a:cubicBezTo>
                    <a:pt x="268986" y="50800"/>
                    <a:pt x="50800" y="266954"/>
                    <a:pt x="50800" y="533146"/>
                  </a:cubicBezTo>
                  <a:close/>
                </a:path>
              </a:pathLst>
            </a:custGeom>
            <a:solidFill>
              <a:srgbClr val="009DD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72706" y="5983557"/>
            <a:ext cx="6530969" cy="2943749"/>
            <a:chOff x="0" y="0"/>
            <a:chExt cx="8707958" cy="39249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8657210" cy="3874135"/>
            </a:xfrm>
            <a:custGeom>
              <a:avLst/>
              <a:gdLst/>
              <a:ahLst/>
              <a:cxnLst/>
              <a:rect r="r" b="b" t="t" l="l"/>
              <a:pathLst>
                <a:path h="3874135" w="8657210">
                  <a:moveTo>
                    <a:pt x="0" y="645668"/>
                  </a:moveTo>
                  <a:cubicBezTo>
                    <a:pt x="0" y="289052"/>
                    <a:pt x="291211" y="0"/>
                    <a:pt x="650367" y="0"/>
                  </a:cubicBezTo>
                  <a:lnTo>
                    <a:pt x="8006842" y="0"/>
                  </a:lnTo>
                  <a:cubicBezTo>
                    <a:pt x="8365999" y="0"/>
                    <a:pt x="8657210" y="289052"/>
                    <a:pt x="8657210" y="645668"/>
                  </a:cubicBezTo>
                  <a:lnTo>
                    <a:pt x="8657210" y="3228467"/>
                  </a:lnTo>
                  <a:cubicBezTo>
                    <a:pt x="8657210" y="3585083"/>
                    <a:pt x="8365999" y="3874135"/>
                    <a:pt x="8006842" y="3874135"/>
                  </a:cubicBezTo>
                  <a:lnTo>
                    <a:pt x="650367" y="3874135"/>
                  </a:lnTo>
                  <a:cubicBezTo>
                    <a:pt x="291211" y="3874262"/>
                    <a:pt x="0" y="3585083"/>
                    <a:pt x="0" y="322846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08010" cy="3924935"/>
            </a:xfrm>
            <a:custGeom>
              <a:avLst/>
              <a:gdLst/>
              <a:ahLst/>
              <a:cxnLst/>
              <a:rect r="r" b="b" t="t" l="l"/>
              <a:pathLst>
                <a:path h="3924935" w="8708010">
                  <a:moveTo>
                    <a:pt x="0" y="671068"/>
                  </a:moveTo>
                  <a:cubicBezTo>
                    <a:pt x="0" y="300355"/>
                    <a:pt x="302768" y="0"/>
                    <a:pt x="675767" y="0"/>
                  </a:cubicBezTo>
                  <a:lnTo>
                    <a:pt x="8032242" y="0"/>
                  </a:lnTo>
                  <a:lnTo>
                    <a:pt x="8032242" y="25400"/>
                  </a:lnTo>
                  <a:lnTo>
                    <a:pt x="8032242" y="0"/>
                  </a:lnTo>
                  <a:cubicBezTo>
                    <a:pt x="8405241" y="0"/>
                    <a:pt x="8708010" y="300355"/>
                    <a:pt x="8708010" y="671068"/>
                  </a:cubicBezTo>
                  <a:lnTo>
                    <a:pt x="8682610" y="671068"/>
                  </a:lnTo>
                  <a:lnTo>
                    <a:pt x="8708010" y="671068"/>
                  </a:lnTo>
                  <a:lnTo>
                    <a:pt x="8708010" y="3253867"/>
                  </a:lnTo>
                  <a:lnTo>
                    <a:pt x="8682610" y="3253867"/>
                  </a:lnTo>
                  <a:lnTo>
                    <a:pt x="8708010" y="3253867"/>
                  </a:lnTo>
                  <a:cubicBezTo>
                    <a:pt x="8708010" y="3624707"/>
                    <a:pt x="8405241" y="3924935"/>
                    <a:pt x="8032242" y="3924935"/>
                  </a:cubicBezTo>
                  <a:lnTo>
                    <a:pt x="8032242" y="3899535"/>
                  </a:lnTo>
                  <a:lnTo>
                    <a:pt x="8032242" y="3924935"/>
                  </a:lnTo>
                  <a:lnTo>
                    <a:pt x="675767" y="3924935"/>
                  </a:lnTo>
                  <a:lnTo>
                    <a:pt x="675767" y="3899535"/>
                  </a:lnTo>
                  <a:lnTo>
                    <a:pt x="675767" y="3924935"/>
                  </a:lnTo>
                  <a:cubicBezTo>
                    <a:pt x="302768" y="3925062"/>
                    <a:pt x="0" y="3624707"/>
                    <a:pt x="0" y="3253867"/>
                  </a:cubicBezTo>
                  <a:lnTo>
                    <a:pt x="0" y="671068"/>
                  </a:lnTo>
                  <a:lnTo>
                    <a:pt x="25400" y="671068"/>
                  </a:lnTo>
                  <a:lnTo>
                    <a:pt x="0" y="671068"/>
                  </a:lnTo>
                  <a:moveTo>
                    <a:pt x="50800" y="671068"/>
                  </a:moveTo>
                  <a:lnTo>
                    <a:pt x="50800" y="3253867"/>
                  </a:lnTo>
                  <a:lnTo>
                    <a:pt x="25400" y="3253867"/>
                  </a:lnTo>
                  <a:lnTo>
                    <a:pt x="50800" y="3253867"/>
                  </a:lnTo>
                  <a:cubicBezTo>
                    <a:pt x="50800" y="3596259"/>
                    <a:pt x="330454" y="3874135"/>
                    <a:pt x="675767" y="3874135"/>
                  </a:cubicBezTo>
                  <a:lnTo>
                    <a:pt x="8032242" y="3874135"/>
                  </a:lnTo>
                  <a:cubicBezTo>
                    <a:pt x="8377555" y="3874135"/>
                    <a:pt x="8657210" y="3596259"/>
                    <a:pt x="8657210" y="3253867"/>
                  </a:cubicBezTo>
                  <a:lnTo>
                    <a:pt x="8657210" y="671068"/>
                  </a:lnTo>
                  <a:cubicBezTo>
                    <a:pt x="8657209" y="328676"/>
                    <a:pt x="8377555" y="50800"/>
                    <a:pt x="8032242" y="50800"/>
                  </a:cubicBezTo>
                  <a:lnTo>
                    <a:pt x="675767" y="50800"/>
                  </a:lnTo>
                  <a:lnTo>
                    <a:pt x="675767" y="25400"/>
                  </a:lnTo>
                  <a:lnTo>
                    <a:pt x="675767" y="50800"/>
                  </a:lnTo>
                  <a:cubicBezTo>
                    <a:pt x="330454" y="50800"/>
                    <a:pt x="50800" y="328676"/>
                    <a:pt x="50800" y="671068"/>
                  </a:cubicBezTo>
                  <a:close/>
                </a:path>
              </a:pathLst>
            </a:custGeom>
            <a:solidFill>
              <a:srgbClr val="0F6FC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599706" y="2249976"/>
            <a:ext cx="3252530" cy="780450"/>
            <a:chOff x="0" y="0"/>
            <a:chExt cx="4336707" cy="1040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36707" cy="1040600"/>
            </a:xfrm>
            <a:custGeom>
              <a:avLst/>
              <a:gdLst/>
              <a:ahLst/>
              <a:cxnLst/>
              <a:rect r="r" b="b" t="t" l="l"/>
              <a:pathLst>
                <a:path h="1040600" w="4336707">
                  <a:moveTo>
                    <a:pt x="0" y="0"/>
                  </a:moveTo>
                  <a:lnTo>
                    <a:pt x="4336707" y="0"/>
                  </a:lnTo>
                  <a:lnTo>
                    <a:pt x="4336707" y="1040600"/>
                  </a:lnTo>
                  <a:lnTo>
                    <a:pt x="0" y="104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21920" y="41910"/>
              <a:ext cx="4092867" cy="937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B54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Sub-Problem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69346" y="3249435"/>
            <a:ext cx="6939896" cy="4373651"/>
            <a:chOff x="0" y="0"/>
            <a:chExt cx="9253195" cy="58315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9202420" cy="5780659"/>
            </a:xfrm>
            <a:custGeom>
              <a:avLst/>
              <a:gdLst/>
              <a:ahLst/>
              <a:cxnLst/>
              <a:rect r="r" b="b" t="t" l="l"/>
              <a:pathLst>
                <a:path h="5780659" w="9202420">
                  <a:moveTo>
                    <a:pt x="0" y="963422"/>
                  </a:moveTo>
                  <a:cubicBezTo>
                    <a:pt x="0" y="431419"/>
                    <a:pt x="432816" y="0"/>
                    <a:pt x="966597" y="0"/>
                  </a:cubicBezTo>
                  <a:lnTo>
                    <a:pt x="8235823" y="0"/>
                  </a:lnTo>
                  <a:cubicBezTo>
                    <a:pt x="8769604" y="0"/>
                    <a:pt x="9202420" y="431419"/>
                    <a:pt x="9202420" y="963422"/>
                  </a:cubicBezTo>
                  <a:lnTo>
                    <a:pt x="9202420" y="4817237"/>
                  </a:lnTo>
                  <a:cubicBezTo>
                    <a:pt x="9202420" y="5349367"/>
                    <a:pt x="8769604" y="5780659"/>
                    <a:pt x="8235823" y="5780659"/>
                  </a:cubicBezTo>
                  <a:lnTo>
                    <a:pt x="966597" y="5780659"/>
                  </a:lnTo>
                  <a:cubicBezTo>
                    <a:pt x="432816" y="5780786"/>
                    <a:pt x="0" y="5349367"/>
                    <a:pt x="0" y="48172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53220" cy="5831459"/>
            </a:xfrm>
            <a:custGeom>
              <a:avLst/>
              <a:gdLst/>
              <a:ahLst/>
              <a:cxnLst/>
              <a:rect r="r" b="b" t="t" l="l"/>
              <a:pathLst>
                <a:path h="5831459" w="9253220">
                  <a:moveTo>
                    <a:pt x="0" y="988822"/>
                  </a:moveTo>
                  <a:cubicBezTo>
                    <a:pt x="0" y="442595"/>
                    <a:pt x="444246" y="0"/>
                    <a:pt x="991997" y="0"/>
                  </a:cubicBezTo>
                  <a:lnTo>
                    <a:pt x="8261223" y="0"/>
                  </a:lnTo>
                  <a:lnTo>
                    <a:pt x="8261223" y="25400"/>
                  </a:lnTo>
                  <a:lnTo>
                    <a:pt x="8261223" y="0"/>
                  </a:lnTo>
                  <a:cubicBezTo>
                    <a:pt x="8808974" y="0"/>
                    <a:pt x="9253220" y="442595"/>
                    <a:pt x="9253220" y="988822"/>
                  </a:cubicBezTo>
                  <a:lnTo>
                    <a:pt x="9227820" y="988822"/>
                  </a:lnTo>
                  <a:lnTo>
                    <a:pt x="9253220" y="988822"/>
                  </a:lnTo>
                  <a:lnTo>
                    <a:pt x="9253220" y="4842637"/>
                  </a:lnTo>
                  <a:lnTo>
                    <a:pt x="9227820" y="4842637"/>
                  </a:lnTo>
                  <a:lnTo>
                    <a:pt x="9253220" y="4842637"/>
                  </a:lnTo>
                  <a:cubicBezTo>
                    <a:pt x="9253220" y="5388864"/>
                    <a:pt x="8808974" y="5831459"/>
                    <a:pt x="8261223" y="5831459"/>
                  </a:cubicBezTo>
                  <a:lnTo>
                    <a:pt x="8261223" y="5806059"/>
                  </a:lnTo>
                  <a:lnTo>
                    <a:pt x="8261223" y="5831459"/>
                  </a:lnTo>
                  <a:lnTo>
                    <a:pt x="991997" y="5831459"/>
                  </a:lnTo>
                  <a:lnTo>
                    <a:pt x="991997" y="5806059"/>
                  </a:lnTo>
                  <a:lnTo>
                    <a:pt x="991997" y="5831459"/>
                  </a:lnTo>
                  <a:cubicBezTo>
                    <a:pt x="444246" y="5831586"/>
                    <a:pt x="0" y="5388864"/>
                    <a:pt x="0" y="4842637"/>
                  </a:cubicBezTo>
                  <a:lnTo>
                    <a:pt x="0" y="988822"/>
                  </a:lnTo>
                  <a:lnTo>
                    <a:pt x="25400" y="988822"/>
                  </a:lnTo>
                  <a:lnTo>
                    <a:pt x="0" y="988822"/>
                  </a:lnTo>
                  <a:moveTo>
                    <a:pt x="50800" y="988822"/>
                  </a:moveTo>
                  <a:lnTo>
                    <a:pt x="50800" y="4842637"/>
                  </a:lnTo>
                  <a:lnTo>
                    <a:pt x="25400" y="4842637"/>
                  </a:lnTo>
                  <a:lnTo>
                    <a:pt x="50800" y="4842637"/>
                  </a:lnTo>
                  <a:cubicBezTo>
                    <a:pt x="50800" y="5360670"/>
                    <a:pt x="472059" y="5780659"/>
                    <a:pt x="991997" y="5780659"/>
                  </a:cubicBezTo>
                  <a:lnTo>
                    <a:pt x="8261223" y="5780659"/>
                  </a:lnTo>
                  <a:cubicBezTo>
                    <a:pt x="8781161" y="5780659"/>
                    <a:pt x="9202420" y="5360543"/>
                    <a:pt x="9202420" y="4842637"/>
                  </a:cubicBezTo>
                  <a:lnTo>
                    <a:pt x="9202420" y="988822"/>
                  </a:lnTo>
                  <a:cubicBezTo>
                    <a:pt x="9202420" y="470916"/>
                    <a:pt x="8781034" y="50800"/>
                    <a:pt x="8261223" y="50800"/>
                  </a:cubicBezTo>
                  <a:lnTo>
                    <a:pt x="991997" y="50800"/>
                  </a:lnTo>
                  <a:lnTo>
                    <a:pt x="991997" y="25400"/>
                  </a:lnTo>
                  <a:lnTo>
                    <a:pt x="991997" y="50800"/>
                  </a:lnTo>
                  <a:cubicBezTo>
                    <a:pt x="472059" y="50800"/>
                    <a:pt x="50800" y="470916"/>
                    <a:pt x="50800" y="988822"/>
                  </a:cubicBezTo>
                  <a:close/>
                </a:path>
              </a:pathLst>
            </a:custGeom>
            <a:solidFill>
              <a:srgbClr val="0BD0D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000281" y="2878260"/>
            <a:ext cx="4345105" cy="780450"/>
            <a:chOff x="0" y="0"/>
            <a:chExt cx="5793473" cy="1040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93473" cy="1040600"/>
            </a:xfrm>
            <a:custGeom>
              <a:avLst/>
              <a:gdLst/>
              <a:ahLst/>
              <a:cxnLst/>
              <a:rect r="r" b="b" t="t" l="l"/>
              <a:pathLst>
                <a:path h="1040600" w="5793473">
                  <a:moveTo>
                    <a:pt x="0" y="0"/>
                  </a:moveTo>
                  <a:lnTo>
                    <a:pt x="5793473" y="0"/>
                  </a:lnTo>
                  <a:lnTo>
                    <a:pt x="5793473" y="1040600"/>
                  </a:lnTo>
                  <a:lnTo>
                    <a:pt x="0" y="104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21920" y="41910"/>
              <a:ext cx="5549633" cy="937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B54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Solution Approach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05277" y="5483133"/>
            <a:ext cx="5521728" cy="780450"/>
            <a:chOff x="0" y="0"/>
            <a:chExt cx="7362304" cy="1040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62304" cy="1040600"/>
            </a:xfrm>
            <a:custGeom>
              <a:avLst/>
              <a:gdLst/>
              <a:ahLst/>
              <a:cxnLst/>
              <a:rect r="r" b="b" t="t" l="l"/>
              <a:pathLst>
                <a:path h="1040600" w="7362304">
                  <a:moveTo>
                    <a:pt x="0" y="0"/>
                  </a:moveTo>
                  <a:lnTo>
                    <a:pt x="7362304" y="0"/>
                  </a:lnTo>
                  <a:lnTo>
                    <a:pt x="7362304" y="1040600"/>
                  </a:lnTo>
                  <a:lnTo>
                    <a:pt x="0" y="104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121920" y="41910"/>
              <a:ext cx="7118464" cy="937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B54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User Requirements Met 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7839637" y="3441649"/>
            <a:ext cx="2803665" cy="593788"/>
          </a:xfrm>
          <a:custGeom>
            <a:avLst/>
            <a:gdLst/>
            <a:ahLst/>
            <a:cxnLst/>
            <a:rect r="r" b="b" t="t" l="l"/>
            <a:pathLst>
              <a:path h="593788" w="2803665">
                <a:moveTo>
                  <a:pt x="0" y="0"/>
                </a:moveTo>
                <a:lnTo>
                  <a:pt x="2803665" y="0"/>
                </a:lnTo>
                <a:lnTo>
                  <a:pt x="2803665" y="593789"/>
                </a:lnTo>
                <a:lnTo>
                  <a:pt x="0" y="5937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890062" y="6584899"/>
            <a:ext cx="2803665" cy="593788"/>
          </a:xfrm>
          <a:custGeom>
            <a:avLst/>
            <a:gdLst/>
            <a:ahLst/>
            <a:cxnLst/>
            <a:rect r="r" b="b" t="t" l="l"/>
            <a:pathLst>
              <a:path h="593788" w="2803665">
                <a:moveTo>
                  <a:pt x="0" y="0"/>
                </a:moveTo>
                <a:lnTo>
                  <a:pt x="2803665" y="0"/>
                </a:lnTo>
                <a:lnTo>
                  <a:pt x="2803665" y="593789"/>
                </a:lnTo>
                <a:lnTo>
                  <a:pt x="0" y="59378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2026792" y="756942"/>
            <a:ext cx="3247414" cy="3298514"/>
          </a:xfrm>
          <a:custGeom>
            <a:avLst/>
            <a:gdLst/>
            <a:ahLst/>
            <a:cxnLst/>
            <a:rect r="r" b="b" t="t" l="l"/>
            <a:pathLst>
              <a:path h="3298514" w="3247414">
                <a:moveTo>
                  <a:pt x="0" y="0"/>
                </a:moveTo>
                <a:lnTo>
                  <a:pt x="3247414" y="0"/>
                </a:lnTo>
                <a:lnTo>
                  <a:pt x="3247414" y="3298514"/>
                </a:lnTo>
                <a:lnTo>
                  <a:pt x="0" y="329851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7639530" y="6724076"/>
            <a:ext cx="3247414" cy="3298513"/>
          </a:xfrm>
          <a:custGeom>
            <a:avLst/>
            <a:gdLst/>
            <a:ahLst/>
            <a:cxnLst/>
            <a:rect r="r" b="b" t="t" l="l"/>
            <a:pathLst>
              <a:path h="3298513" w="3247414">
                <a:moveTo>
                  <a:pt x="0" y="0"/>
                </a:moveTo>
                <a:lnTo>
                  <a:pt x="3247415" y="0"/>
                </a:lnTo>
                <a:lnTo>
                  <a:pt x="3247415" y="3298513"/>
                </a:lnTo>
                <a:lnTo>
                  <a:pt x="0" y="329851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941377" y="3854272"/>
            <a:ext cx="7086343" cy="298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219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3495C"/>
                </a:solidFill>
                <a:latin typeface="Cambria"/>
                <a:ea typeface="Cambria"/>
                <a:cs typeface="Cambria"/>
                <a:sym typeface="Cambria"/>
              </a:rPr>
              <a:t>Custom CNN (person detection &amp;head-orientation)​</a:t>
            </a:r>
          </a:p>
          <a:p>
            <a:pPr algn="l" marL="597219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3495C"/>
                </a:solidFill>
                <a:latin typeface="Cambria"/>
                <a:ea typeface="Cambria"/>
                <a:cs typeface="Cambria"/>
                <a:sym typeface="Cambria"/>
              </a:rPr>
              <a:t>SORT tracker for ID assignment​</a:t>
            </a:r>
          </a:p>
          <a:p>
            <a:pPr algn="l" marL="597219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3495C"/>
                </a:solidFill>
                <a:latin typeface="Cambria"/>
                <a:ea typeface="Cambria"/>
                <a:cs typeface="Cambria"/>
                <a:sym typeface="Cambria"/>
              </a:rPr>
              <a:t>OpenCV for real-time capture​</a:t>
            </a:r>
          </a:p>
          <a:p>
            <a:pPr algn="l" marL="597219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3495C"/>
                </a:solidFill>
                <a:latin typeface="Cambria"/>
                <a:ea typeface="Cambria"/>
                <a:cs typeface="Cambria"/>
                <a:sym typeface="Cambria"/>
              </a:rPr>
              <a:t>Aggregates results every 10seconds ​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8730" y="3059468"/>
            <a:ext cx="6503860" cy="158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3495C"/>
                </a:solidFill>
                <a:latin typeface="Cambria"/>
                <a:ea typeface="Cambria"/>
                <a:cs typeface="Cambria"/>
                <a:sym typeface="Cambria"/>
              </a:rPr>
              <a:t>No real-time engagement duration tracking .Lack of linkage between engagement and security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8911" y="6293339"/>
            <a:ext cx="6095019" cy="2595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217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3495C"/>
                </a:solidFill>
                <a:latin typeface="Cambria"/>
                <a:ea typeface="Cambria"/>
                <a:cs typeface="Cambria"/>
                <a:sym typeface="Cambria"/>
              </a:rPr>
              <a:t>Real-time identification</a:t>
            </a:r>
          </a:p>
          <a:p>
            <a:pPr algn="l" marL="597217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3495C"/>
                </a:solidFill>
                <a:latin typeface="Cambria"/>
                <a:ea typeface="Cambria"/>
                <a:cs typeface="Cambria"/>
                <a:sym typeface="Cambria"/>
              </a:rPr>
              <a:t>Multi-user support</a:t>
            </a:r>
          </a:p>
          <a:p>
            <a:pPr algn="l" marL="597217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3495C"/>
                </a:solidFill>
                <a:latin typeface="Cambria"/>
                <a:ea typeface="Cambria"/>
                <a:cs typeface="Cambria"/>
                <a:sym typeface="Cambria"/>
              </a:rPr>
              <a:t>Integration ready</a:t>
            </a:r>
          </a:p>
          <a:p>
            <a:pPr algn="l" marL="597217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3495C"/>
                </a:solidFill>
                <a:latin typeface="Cambria"/>
                <a:ea typeface="Cambria"/>
                <a:cs typeface="Cambria"/>
                <a:sym typeface="Cambria"/>
              </a:rPr>
              <a:t>Separate security behavior handling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87068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440" r="-2568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2194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1/6/26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-42529"/>
            <a:ext cx="18288000" cy="9566377"/>
          </a:xfrm>
          <a:custGeom>
            <a:avLst/>
            <a:gdLst/>
            <a:ahLst/>
            <a:cxnLst/>
            <a:rect r="r" b="b" t="t" l="l"/>
            <a:pathLst>
              <a:path h="9566377" w="18288000">
                <a:moveTo>
                  <a:pt x="0" y="0"/>
                </a:moveTo>
                <a:lnTo>
                  <a:pt x="18288000" y="0"/>
                </a:lnTo>
                <a:lnTo>
                  <a:pt x="18288000" y="9566376"/>
                </a:lnTo>
                <a:lnTo>
                  <a:pt x="0" y="95663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764" r="0" b="-3764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948655" y="9739312"/>
            <a:ext cx="10224545" cy="547688"/>
            <a:chOff x="0" y="0"/>
            <a:chExt cx="13632726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32731" cy="730250"/>
            </a:xfrm>
            <a:custGeom>
              <a:avLst/>
              <a:gdLst/>
              <a:ahLst/>
              <a:cxnLst/>
              <a:rect r="r" b="b" t="t" l="l"/>
              <a:pathLst>
                <a:path h="730250" w="13632731">
                  <a:moveTo>
                    <a:pt x="0" y="0"/>
                  </a:moveTo>
                  <a:lnTo>
                    <a:pt x="13632731" y="0"/>
                  </a:lnTo>
                  <a:lnTo>
                    <a:pt x="13632731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3757" r="0" b="-3137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363272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IT22184030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 </a:t>
              </a: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Abeykoon S N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 | 25 – 26J- 091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11327" y="3931034"/>
            <a:ext cx="500841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Detection &amp; Tracking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Engagement Decision Logic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Crowd-Level Aggregation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6077" y="7505390"/>
            <a:ext cx="8267702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Implemented f</a:t>
            </a:r>
            <a:r>
              <a:rPr lang="en-US" sz="3000" strike="noStrike" u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rame </a:t>
            </a:r>
            <a:r>
              <a:rPr lang="en-US" sz="3000" strike="noStrike" u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lang="en-US" sz="3000" strike="noStrike" u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moothing </a:t>
            </a:r>
            <a:r>
              <a:rPr lang="en-US" sz="3000" strike="noStrike" u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and g</a:t>
            </a:r>
            <a:r>
              <a:rPr lang="en-US" sz="3000" strike="noStrike" u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</a:t>
            </a:r>
            <a:r>
              <a:rPr lang="en-US" sz="3000" strike="noStrike" u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ace ​ Provides</a:t>
            </a:r>
            <a:r>
              <a:rPr lang="en-US" sz="3000" strike="noStrike" u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stable predictions</a:t>
            </a:r>
            <a:r>
              <a:rPr lang="en-US" sz="3000" strike="noStrike" u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in noisy CCTV conditions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95594" y="4359659"/>
            <a:ext cx="5565305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Engagement is determined using continuous looking duration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12982" y="6912116"/>
            <a:ext cx="519644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MongoDB structure enabling long-term analytics and fusion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382699" y="3219506"/>
            <a:ext cx="4760719" cy="4219209"/>
          </a:xfrm>
          <a:custGeom>
            <a:avLst/>
            <a:gdLst/>
            <a:ahLst/>
            <a:cxnLst/>
            <a:rect r="r" b="b" t="t" l="l"/>
            <a:pathLst>
              <a:path h="4219209" w="4760719">
                <a:moveTo>
                  <a:pt x="0" y="0"/>
                </a:moveTo>
                <a:lnTo>
                  <a:pt x="4760719" y="0"/>
                </a:lnTo>
                <a:lnTo>
                  <a:pt x="4760719" y="4219209"/>
                </a:lnTo>
                <a:lnTo>
                  <a:pt x="0" y="4219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469" t="0" r="-1646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939260" y="987028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14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68300" y="229276"/>
            <a:ext cx="18022195" cy="1594260"/>
            <a:chOff x="0" y="0"/>
            <a:chExt cx="24029594" cy="2125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029597" cy="2125685"/>
            </a:xfrm>
            <a:custGeom>
              <a:avLst/>
              <a:gdLst/>
              <a:ahLst/>
              <a:cxnLst/>
              <a:rect r="r" b="b" t="t" l="l"/>
              <a:pathLst>
                <a:path h="2125685" w="24029597">
                  <a:moveTo>
                    <a:pt x="0" y="0"/>
                  </a:moveTo>
                  <a:lnTo>
                    <a:pt x="24029597" y="0"/>
                  </a:lnTo>
                  <a:lnTo>
                    <a:pt x="24029597" y="2125685"/>
                  </a:lnTo>
                  <a:lnTo>
                    <a:pt x="0" y="21256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266" r="0" b="-17026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4029594" cy="2144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FEFE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REAL-TIME ENGAGEMENT DETE</a:t>
              </a:r>
              <a:r>
                <a:rPr lang="en-US" sz="3450" b="true">
                  <a:solidFill>
                    <a:srgbClr val="FEFE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CTION AND BEHAVIORAL ANOMALY INTEGRATION FOR ADAPTIVE ADS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3702" y="3005751"/>
            <a:ext cx="436858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30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Modular architecture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5915" y="6226316"/>
            <a:ext cx="436858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Real-Time &amp; Lightweight Design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71794" y="6082272"/>
            <a:ext cx="436858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Structured Analytics Schema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2269" y="3186726"/>
            <a:ext cx="4978011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Temporal Behavior-Based Engagement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8340" y="1895531"/>
            <a:ext cx="1105923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B3EAF2"/>
                </a:solidFill>
                <a:latin typeface="Cambria Bold"/>
                <a:ea typeface="Cambria Bold"/>
                <a:cs typeface="Cambria Bold"/>
                <a:sym typeface="Cambria Bold"/>
              </a:rPr>
              <a:t>Design Excellence / Technical Contribution</a:t>
            </a:r>
          </a:p>
          <a:p>
            <a:pPr algn="ctr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440" r="-2568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2194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1/6/26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182850" y="209550"/>
            <a:ext cx="3009900" cy="3467100"/>
            <a:chOff x="0" y="0"/>
            <a:chExt cx="4013200" cy="462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39624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13200" cy="4622800"/>
            </a:xfrm>
            <a:custGeom>
              <a:avLst/>
              <a:gdLst/>
              <a:ahLst/>
              <a:cxnLst/>
              <a:rect r="r" b="b" t="t" l="l"/>
              <a:pathLst>
                <a:path h="4622800" w="4013200">
                  <a:moveTo>
                    <a:pt x="25400" y="0"/>
                  </a:moveTo>
                  <a:lnTo>
                    <a:pt x="3987800" y="0"/>
                  </a:lnTo>
                  <a:cubicBezTo>
                    <a:pt x="4001770" y="0"/>
                    <a:pt x="4013200" y="11430"/>
                    <a:pt x="4013200" y="25400"/>
                  </a:cubicBezTo>
                  <a:lnTo>
                    <a:pt x="4013200" y="4597400"/>
                  </a:lnTo>
                  <a:cubicBezTo>
                    <a:pt x="4013200" y="4611370"/>
                    <a:pt x="4001770" y="4622800"/>
                    <a:pt x="3987800" y="4622800"/>
                  </a:cubicBezTo>
                  <a:lnTo>
                    <a:pt x="25400" y="4622800"/>
                  </a:lnTo>
                  <a:cubicBezTo>
                    <a:pt x="11430" y="4622800"/>
                    <a:pt x="0" y="4611370"/>
                    <a:pt x="0" y="459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597400"/>
                  </a:lnTo>
                  <a:lnTo>
                    <a:pt x="25400" y="4597400"/>
                  </a:lnTo>
                  <a:lnTo>
                    <a:pt x="25400" y="4572000"/>
                  </a:lnTo>
                  <a:lnTo>
                    <a:pt x="3987800" y="4572000"/>
                  </a:lnTo>
                  <a:lnTo>
                    <a:pt x="3987800" y="4597400"/>
                  </a:lnTo>
                  <a:lnTo>
                    <a:pt x="3962400" y="4597400"/>
                  </a:lnTo>
                  <a:lnTo>
                    <a:pt x="3962400" y="25400"/>
                  </a:lnTo>
                  <a:lnTo>
                    <a:pt x="3987800" y="25400"/>
                  </a:lnTo>
                  <a:lnTo>
                    <a:pt x="39878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013200" cy="464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Student Must add a professional photo to this cage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533225" y="190"/>
            <a:ext cx="18837868" cy="9597685"/>
          </a:xfrm>
          <a:custGeom>
            <a:avLst/>
            <a:gdLst/>
            <a:ahLst/>
            <a:cxnLst/>
            <a:rect r="r" b="b" t="t" l="l"/>
            <a:pathLst>
              <a:path h="9597685" w="18837868">
                <a:moveTo>
                  <a:pt x="0" y="0"/>
                </a:moveTo>
                <a:lnTo>
                  <a:pt x="18837868" y="0"/>
                </a:lnTo>
                <a:lnTo>
                  <a:pt x="18837868" y="9597686"/>
                </a:lnTo>
                <a:lnTo>
                  <a:pt x="0" y="9597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00" r="0" b="-520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1755" y="2992526"/>
            <a:ext cx="18070995" cy="4225376"/>
            <a:chOff x="0" y="0"/>
            <a:chExt cx="24059321" cy="56255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059324" cy="5625571"/>
            </a:xfrm>
            <a:custGeom>
              <a:avLst/>
              <a:gdLst/>
              <a:ahLst/>
              <a:cxnLst/>
              <a:rect r="r" b="b" t="t" l="l"/>
              <a:pathLst>
                <a:path h="5625571" w="24059324">
                  <a:moveTo>
                    <a:pt x="0" y="0"/>
                  </a:moveTo>
                  <a:lnTo>
                    <a:pt x="24059324" y="0"/>
                  </a:lnTo>
                  <a:lnTo>
                    <a:pt x="24059324" y="5625571"/>
                  </a:lnTo>
                  <a:lnTo>
                    <a:pt x="0" y="56255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573" r="6656" b="-19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4059321" cy="5654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DEMOGRAPHY-BASED ADVERTISEMENT RE</a:t>
              </a:r>
              <a:r>
                <a:rPr lang="en-US" sz="60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COMMENDATION ENGINE INCORPORATING SERENDIPITY AND DEMOGRAPHIC FILTERING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76527" y="6860715"/>
            <a:ext cx="1536192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E7E7E"/>
                </a:solidFill>
                <a:latin typeface="Cambria"/>
                <a:ea typeface="Cambria"/>
                <a:cs typeface="Cambria"/>
                <a:sym typeface="Cambria"/>
              </a:rPr>
              <a:t>B.S</a:t>
            </a:r>
            <a:r>
              <a:rPr lang="en-US" sz="2700">
                <a:solidFill>
                  <a:srgbClr val="7E7E7E"/>
                </a:solidFill>
                <a:latin typeface="Cambria"/>
                <a:ea typeface="Cambria"/>
                <a:cs typeface="Cambria"/>
                <a:sym typeface="Cambria"/>
              </a:rPr>
              <a:t>c. (Hons) in Informati</a:t>
            </a:r>
            <a:r>
              <a:rPr lang="en-US" sz="2700">
                <a:solidFill>
                  <a:srgbClr val="7E7E7E"/>
                </a:solidFill>
                <a:latin typeface="Cambria"/>
                <a:ea typeface="Cambria"/>
                <a:cs typeface="Cambria"/>
                <a:sym typeface="Cambria"/>
              </a:rPr>
              <a:t>on </a:t>
            </a:r>
            <a:r>
              <a:rPr lang="en-US" sz="2700">
                <a:solidFill>
                  <a:srgbClr val="7E7E7E"/>
                </a:solidFill>
                <a:latin typeface="Cambria"/>
                <a:ea typeface="Cambria"/>
                <a:cs typeface="Cambria"/>
                <a:sym typeface="Cambria"/>
              </a:rPr>
              <a:t>Technol</a:t>
            </a:r>
            <a:r>
              <a:rPr lang="en-US" sz="2700">
                <a:solidFill>
                  <a:srgbClr val="7E7E7E"/>
                </a:solidFill>
                <a:latin typeface="Cambria"/>
                <a:ea typeface="Cambria"/>
                <a:cs typeface="Cambria"/>
                <a:sym typeface="Cambria"/>
              </a:rPr>
              <a:t>ogy specializing </a:t>
            </a:r>
            <a:r>
              <a:rPr lang="en-US" sz="2700">
                <a:solidFill>
                  <a:srgbClr val="7E7E7E"/>
                </a:solidFill>
                <a:latin typeface="Cambria"/>
                <a:ea typeface="Cambria"/>
                <a:cs typeface="Cambria"/>
                <a:sym typeface="Cambria"/>
              </a:rPr>
              <a:t>in Data Science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948655" y="9739312"/>
            <a:ext cx="10224545" cy="547688"/>
            <a:chOff x="0" y="0"/>
            <a:chExt cx="13632726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632731" cy="730250"/>
            </a:xfrm>
            <a:custGeom>
              <a:avLst/>
              <a:gdLst/>
              <a:ahLst/>
              <a:cxnLst/>
              <a:rect r="r" b="b" t="t" l="l"/>
              <a:pathLst>
                <a:path h="730250" w="13632731">
                  <a:moveTo>
                    <a:pt x="0" y="0"/>
                  </a:moveTo>
                  <a:lnTo>
                    <a:pt x="13632731" y="0"/>
                  </a:lnTo>
                  <a:lnTo>
                    <a:pt x="13632731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3757" r="0" b="-31375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363272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IT22071934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|   </a:t>
              </a: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Rajana H T R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  25- 26J - 091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152522" y="197663"/>
            <a:ext cx="3103245" cy="3514925"/>
          </a:xfrm>
          <a:custGeom>
            <a:avLst/>
            <a:gdLst/>
            <a:ahLst/>
            <a:cxnLst/>
            <a:rect r="r" b="b" t="t" l="l"/>
            <a:pathLst>
              <a:path h="3514925" w="3103245">
                <a:moveTo>
                  <a:pt x="0" y="0"/>
                </a:moveTo>
                <a:lnTo>
                  <a:pt x="3103245" y="0"/>
                </a:lnTo>
                <a:lnTo>
                  <a:pt x="3103245" y="3514925"/>
                </a:lnTo>
                <a:lnTo>
                  <a:pt x="0" y="3514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179" r="0" b="-5179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838447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9440" r="-2568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2194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1/6/26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812" y="190"/>
            <a:ext cx="18453238" cy="9378944"/>
          </a:xfrm>
          <a:custGeom>
            <a:avLst/>
            <a:gdLst/>
            <a:ahLst/>
            <a:cxnLst/>
            <a:rect r="r" b="b" t="t" l="l"/>
            <a:pathLst>
              <a:path h="9378944" w="18453238">
                <a:moveTo>
                  <a:pt x="0" y="0"/>
                </a:moveTo>
                <a:lnTo>
                  <a:pt x="18453237" y="0"/>
                </a:lnTo>
                <a:lnTo>
                  <a:pt x="18453237" y="9378944"/>
                </a:lnTo>
                <a:lnTo>
                  <a:pt x="0" y="9378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334" r="0" b="-5334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948655" y="9739312"/>
            <a:ext cx="10224545" cy="547688"/>
            <a:chOff x="0" y="0"/>
            <a:chExt cx="13632726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32731" cy="730250"/>
            </a:xfrm>
            <a:custGeom>
              <a:avLst/>
              <a:gdLst/>
              <a:ahLst/>
              <a:cxnLst/>
              <a:rect r="r" b="b" t="t" l="l"/>
              <a:pathLst>
                <a:path h="730250" w="13632731">
                  <a:moveTo>
                    <a:pt x="0" y="0"/>
                  </a:moveTo>
                  <a:lnTo>
                    <a:pt x="13632731" y="0"/>
                  </a:lnTo>
                  <a:lnTo>
                    <a:pt x="13632731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3757" r="0" b="-3137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363272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IT22071934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 </a:t>
              </a: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Rajana H T R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25 – 26J- 091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7513" y="2945787"/>
            <a:ext cx="6368405" cy="2222125"/>
            <a:chOff x="0" y="0"/>
            <a:chExt cx="8491207" cy="29628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8440420" cy="2912110"/>
            </a:xfrm>
            <a:custGeom>
              <a:avLst/>
              <a:gdLst/>
              <a:ahLst/>
              <a:cxnLst/>
              <a:rect r="r" b="b" t="t" l="l"/>
              <a:pathLst>
                <a:path h="2912110" w="8440420">
                  <a:moveTo>
                    <a:pt x="0" y="485394"/>
                  </a:moveTo>
                  <a:cubicBezTo>
                    <a:pt x="0" y="217297"/>
                    <a:pt x="219710" y="0"/>
                    <a:pt x="490855" y="0"/>
                  </a:cubicBezTo>
                  <a:lnTo>
                    <a:pt x="7949565" y="0"/>
                  </a:lnTo>
                  <a:cubicBezTo>
                    <a:pt x="8220710" y="0"/>
                    <a:pt x="8440420" y="217297"/>
                    <a:pt x="8440420" y="485394"/>
                  </a:cubicBezTo>
                  <a:lnTo>
                    <a:pt x="8440420" y="2426716"/>
                  </a:lnTo>
                  <a:cubicBezTo>
                    <a:pt x="8440420" y="2694813"/>
                    <a:pt x="8220710" y="2912110"/>
                    <a:pt x="7949565" y="2912110"/>
                  </a:cubicBezTo>
                  <a:lnTo>
                    <a:pt x="490855" y="2912110"/>
                  </a:lnTo>
                  <a:cubicBezTo>
                    <a:pt x="219710" y="2911983"/>
                    <a:pt x="0" y="2694686"/>
                    <a:pt x="0" y="24267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91220" cy="2962910"/>
            </a:xfrm>
            <a:custGeom>
              <a:avLst/>
              <a:gdLst/>
              <a:ahLst/>
              <a:cxnLst/>
              <a:rect r="r" b="b" t="t" l="l"/>
              <a:pathLst>
                <a:path h="2962910" w="8491220">
                  <a:moveTo>
                    <a:pt x="0" y="510794"/>
                  </a:moveTo>
                  <a:cubicBezTo>
                    <a:pt x="0" y="228346"/>
                    <a:pt x="231394" y="0"/>
                    <a:pt x="516255" y="0"/>
                  </a:cubicBezTo>
                  <a:lnTo>
                    <a:pt x="7974965" y="0"/>
                  </a:lnTo>
                  <a:lnTo>
                    <a:pt x="7974965" y="25400"/>
                  </a:lnTo>
                  <a:lnTo>
                    <a:pt x="7974965" y="0"/>
                  </a:lnTo>
                  <a:cubicBezTo>
                    <a:pt x="8259826" y="0"/>
                    <a:pt x="8491220" y="228346"/>
                    <a:pt x="8491220" y="510794"/>
                  </a:cubicBezTo>
                  <a:lnTo>
                    <a:pt x="8465820" y="510794"/>
                  </a:lnTo>
                  <a:lnTo>
                    <a:pt x="8491220" y="510794"/>
                  </a:lnTo>
                  <a:lnTo>
                    <a:pt x="8491220" y="2452116"/>
                  </a:lnTo>
                  <a:lnTo>
                    <a:pt x="8465820" y="2452116"/>
                  </a:lnTo>
                  <a:lnTo>
                    <a:pt x="8491220" y="2452116"/>
                  </a:lnTo>
                  <a:cubicBezTo>
                    <a:pt x="8491220" y="2734437"/>
                    <a:pt x="8259826" y="2962910"/>
                    <a:pt x="7974965" y="2962910"/>
                  </a:cubicBezTo>
                  <a:lnTo>
                    <a:pt x="7974965" y="2937510"/>
                  </a:lnTo>
                  <a:lnTo>
                    <a:pt x="7974965" y="2962910"/>
                  </a:lnTo>
                  <a:lnTo>
                    <a:pt x="516255" y="2962910"/>
                  </a:lnTo>
                  <a:lnTo>
                    <a:pt x="516255" y="2937510"/>
                  </a:lnTo>
                  <a:lnTo>
                    <a:pt x="516255" y="2962910"/>
                  </a:lnTo>
                  <a:cubicBezTo>
                    <a:pt x="231394" y="2962783"/>
                    <a:pt x="0" y="2734437"/>
                    <a:pt x="0" y="2452116"/>
                  </a:cubicBezTo>
                  <a:lnTo>
                    <a:pt x="0" y="510794"/>
                  </a:lnTo>
                  <a:lnTo>
                    <a:pt x="25400" y="510794"/>
                  </a:lnTo>
                  <a:lnTo>
                    <a:pt x="0" y="510794"/>
                  </a:lnTo>
                  <a:moveTo>
                    <a:pt x="50800" y="510794"/>
                  </a:moveTo>
                  <a:lnTo>
                    <a:pt x="50800" y="2452116"/>
                  </a:lnTo>
                  <a:lnTo>
                    <a:pt x="25400" y="2452116"/>
                  </a:lnTo>
                  <a:lnTo>
                    <a:pt x="50800" y="2452116"/>
                  </a:lnTo>
                  <a:cubicBezTo>
                    <a:pt x="50800" y="2705862"/>
                    <a:pt x="258953" y="2912110"/>
                    <a:pt x="516255" y="2912110"/>
                  </a:cubicBezTo>
                  <a:lnTo>
                    <a:pt x="7974965" y="2912110"/>
                  </a:lnTo>
                  <a:cubicBezTo>
                    <a:pt x="8232267" y="2912110"/>
                    <a:pt x="8440420" y="2705862"/>
                    <a:pt x="8440420" y="2452116"/>
                  </a:cubicBezTo>
                  <a:lnTo>
                    <a:pt x="8440420" y="510794"/>
                  </a:lnTo>
                  <a:cubicBezTo>
                    <a:pt x="8440420" y="257048"/>
                    <a:pt x="8232267" y="50800"/>
                    <a:pt x="7974965" y="50800"/>
                  </a:cubicBezTo>
                  <a:lnTo>
                    <a:pt x="516255" y="50800"/>
                  </a:lnTo>
                  <a:lnTo>
                    <a:pt x="516255" y="25400"/>
                  </a:lnTo>
                  <a:lnTo>
                    <a:pt x="516255" y="50800"/>
                  </a:lnTo>
                  <a:cubicBezTo>
                    <a:pt x="258953" y="50800"/>
                    <a:pt x="50800" y="257048"/>
                    <a:pt x="50800" y="510794"/>
                  </a:cubicBezTo>
                  <a:close/>
                </a:path>
              </a:pathLst>
            </a:custGeom>
            <a:solidFill>
              <a:srgbClr val="009DD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05436" y="6293272"/>
            <a:ext cx="6530969" cy="2943749"/>
            <a:chOff x="0" y="0"/>
            <a:chExt cx="8707958" cy="39249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8657210" cy="3874135"/>
            </a:xfrm>
            <a:custGeom>
              <a:avLst/>
              <a:gdLst/>
              <a:ahLst/>
              <a:cxnLst/>
              <a:rect r="r" b="b" t="t" l="l"/>
              <a:pathLst>
                <a:path h="3874135" w="8657210">
                  <a:moveTo>
                    <a:pt x="0" y="645668"/>
                  </a:moveTo>
                  <a:cubicBezTo>
                    <a:pt x="0" y="289052"/>
                    <a:pt x="291211" y="0"/>
                    <a:pt x="650367" y="0"/>
                  </a:cubicBezTo>
                  <a:lnTo>
                    <a:pt x="8006842" y="0"/>
                  </a:lnTo>
                  <a:cubicBezTo>
                    <a:pt x="8365999" y="0"/>
                    <a:pt x="8657210" y="289052"/>
                    <a:pt x="8657210" y="645668"/>
                  </a:cubicBezTo>
                  <a:lnTo>
                    <a:pt x="8657210" y="3228467"/>
                  </a:lnTo>
                  <a:cubicBezTo>
                    <a:pt x="8657210" y="3585083"/>
                    <a:pt x="8365999" y="3874135"/>
                    <a:pt x="8006842" y="3874135"/>
                  </a:cubicBezTo>
                  <a:lnTo>
                    <a:pt x="650367" y="3874135"/>
                  </a:lnTo>
                  <a:cubicBezTo>
                    <a:pt x="291211" y="3874262"/>
                    <a:pt x="0" y="3585083"/>
                    <a:pt x="0" y="322846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08010" cy="3924935"/>
            </a:xfrm>
            <a:custGeom>
              <a:avLst/>
              <a:gdLst/>
              <a:ahLst/>
              <a:cxnLst/>
              <a:rect r="r" b="b" t="t" l="l"/>
              <a:pathLst>
                <a:path h="3924935" w="8708010">
                  <a:moveTo>
                    <a:pt x="0" y="671068"/>
                  </a:moveTo>
                  <a:cubicBezTo>
                    <a:pt x="0" y="300355"/>
                    <a:pt x="302768" y="0"/>
                    <a:pt x="675767" y="0"/>
                  </a:cubicBezTo>
                  <a:lnTo>
                    <a:pt x="8032242" y="0"/>
                  </a:lnTo>
                  <a:lnTo>
                    <a:pt x="8032242" y="25400"/>
                  </a:lnTo>
                  <a:lnTo>
                    <a:pt x="8032242" y="0"/>
                  </a:lnTo>
                  <a:cubicBezTo>
                    <a:pt x="8405241" y="0"/>
                    <a:pt x="8708010" y="300355"/>
                    <a:pt x="8708010" y="671068"/>
                  </a:cubicBezTo>
                  <a:lnTo>
                    <a:pt x="8682610" y="671068"/>
                  </a:lnTo>
                  <a:lnTo>
                    <a:pt x="8708010" y="671068"/>
                  </a:lnTo>
                  <a:lnTo>
                    <a:pt x="8708010" y="3253867"/>
                  </a:lnTo>
                  <a:lnTo>
                    <a:pt x="8682610" y="3253867"/>
                  </a:lnTo>
                  <a:lnTo>
                    <a:pt x="8708010" y="3253867"/>
                  </a:lnTo>
                  <a:cubicBezTo>
                    <a:pt x="8708010" y="3624707"/>
                    <a:pt x="8405241" y="3924935"/>
                    <a:pt x="8032242" y="3924935"/>
                  </a:cubicBezTo>
                  <a:lnTo>
                    <a:pt x="8032242" y="3899535"/>
                  </a:lnTo>
                  <a:lnTo>
                    <a:pt x="8032242" y="3924935"/>
                  </a:lnTo>
                  <a:lnTo>
                    <a:pt x="675767" y="3924935"/>
                  </a:lnTo>
                  <a:lnTo>
                    <a:pt x="675767" y="3899535"/>
                  </a:lnTo>
                  <a:lnTo>
                    <a:pt x="675767" y="3924935"/>
                  </a:lnTo>
                  <a:cubicBezTo>
                    <a:pt x="302768" y="3925062"/>
                    <a:pt x="0" y="3624707"/>
                    <a:pt x="0" y="3253867"/>
                  </a:cubicBezTo>
                  <a:lnTo>
                    <a:pt x="0" y="671068"/>
                  </a:lnTo>
                  <a:lnTo>
                    <a:pt x="25400" y="671068"/>
                  </a:lnTo>
                  <a:lnTo>
                    <a:pt x="0" y="671068"/>
                  </a:lnTo>
                  <a:moveTo>
                    <a:pt x="50800" y="671068"/>
                  </a:moveTo>
                  <a:lnTo>
                    <a:pt x="50800" y="3253867"/>
                  </a:lnTo>
                  <a:lnTo>
                    <a:pt x="25400" y="3253867"/>
                  </a:lnTo>
                  <a:lnTo>
                    <a:pt x="50800" y="3253867"/>
                  </a:lnTo>
                  <a:cubicBezTo>
                    <a:pt x="50800" y="3596259"/>
                    <a:pt x="330454" y="3874135"/>
                    <a:pt x="675767" y="3874135"/>
                  </a:cubicBezTo>
                  <a:lnTo>
                    <a:pt x="8032242" y="3874135"/>
                  </a:lnTo>
                  <a:cubicBezTo>
                    <a:pt x="8377555" y="3874135"/>
                    <a:pt x="8657210" y="3596259"/>
                    <a:pt x="8657210" y="3253867"/>
                  </a:cubicBezTo>
                  <a:lnTo>
                    <a:pt x="8657210" y="671068"/>
                  </a:lnTo>
                  <a:cubicBezTo>
                    <a:pt x="8657209" y="328676"/>
                    <a:pt x="8377555" y="50800"/>
                    <a:pt x="8032242" y="50800"/>
                  </a:cubicBezTo>
                  <a:lnTo>
                    <a:pt x="675767" y="50800"/>
                  </a:lnTo>
                  <a:lnTo>
                    <a:pt x="675767" y="25400"/>
                  </a:lnTo>
                  <a:lnTo>
                    <a:pt x="675767" y="50800"/>
                  </a:lnTo>
                  <a:cubicBezTo>
                    <a:pt x="330454" y="50800"/>
                    <a:pt x="50800" y="328676"/>
                    <a:pt x="50800" y="671068"/>
                  </a:cubicBezTo>
                  <a:close/>
                </a:path>
              </a:pathLst>
            </a:custGeom>
            <a:solidFill>
              <a:srgbClr val="0F6FC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14460" y="2441705"/>
            <a:ext cx="3294440" cy="780450"/>
            <a:chOff x="0" y="0"/>
            <a:chExt cx="4392587" cy="1040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36707" cy="1040600"/>
            </a:xfrm>
            <a:custGeom>
              <a:avLst/>
              <a:gdLst/>
              <a:ahLst/>
              <a:cxnLst/>
              <a:rect r="r" b="b" t="t" l="l"/>
              <a:pathLst>
                <a:path h="1040600" w="4336707">
                  <a:moveTo>
                    <a:pt x="0" y="0"/>
                  </a:moveTo>
                  <a:lnTo>
                    <a:pt x="4336707" y="0"/>
                  </a:lnTo>
                  <a:lnTo>
                    <a:pt x="4336707" y="1040600"/>
                  </a:lnTo>
                  <a:lnTo>
                    <a:pt x="0" y="104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99720" y="80010"/>
              <a:ext cx="4092867" cy="937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B54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Sub-Problem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72587" y="3618138"/>
            <a:ext cx="6939896" cy="4373651"/>
            <a:chOff x="0" y="0"/>
            <a:chExt cx="9253195" cy="58315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25400"/>
              <a:ext cx="9202420" cy="5780659"/>
            </a:xfrm>
            <a:custGeom>
              <a:avLst/>
              <a:gdLst/>
              <a:ahLst/>
              <a:cxnLst/>
              <a:rect r="r" b="b" t="t" l="l"/>
              <a:pathLst>
                <a:path h="5780659" w="9202420">
                  <a:moveTo>
                    <a:pt x="0" y="963422"/>
                  </a:moveTo>
                  <a:cubicBezTo>
                    <a:pt x="0" y="431419"/>
                    <a:pt x="432816" y="0"/>
                    <a:pt x="966597" y="0"/>
                  </a:cubicBezTo>
                  <a:lnTo>
                    <a:pt x="8235823" y="0"/>
                  </a:lnTo>
                  <a:cubicBezTo>
                    <a:pt x="8769604" y="0"/>
                    <a:pt x="9202420" y="431419"/>
                    <a:pt x="9202420" y="963422"/>
                  </a:cubicBezTo>
                  <a:lnTo>
                    <a:pt x="9202420" y="4817237"/>
                  </a:lnTo>
                  <a:cubicBezTo>
                    <a:pt x="9202420" y="5349367"/>
                    <a:pt x="8769604" y="5780659"/>
                    <a:pt x="8235823" y="5780659"/>
                  </a:cubicBezTo>
                  <a:lnTo>
                    <a:pt x="966597" y="5780659"/>
                  </a:lnTo>
                  <a:cubicBezTo>
                    <a:pt x="432816" y="5780786"/>
                    <a:pt x="0" y="5349367"/>
                    <a:pt x="0" y="48172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53220" cy="5831459"/>
            </a:xfrm>
            <a:custGeom>
              <a:avLst/>
              <a:gdLst/>
              <a:ahLst/>
              <a:cxnLst/>
              <a:rect r="r" b="b" t="t" l="l"/>
              <a:pathLst>
                <a:path h="5831459" w="9253220">
                  <a:moveTo>
                    <a:pt x="0" y="988822"/>
                  </a:moveTo>
                  <a:cubicBezTo>
                    <a:pt x="0" y="442595"/>
                    <a:pt x="444246" y="0"/>
                    <a:pt x="991997" y="0"/>
                  </a:cubicBezTo>
                  <a:lnTo>
                    <a:pt x="8261223" y="0"/>
                  </a:lnTo>
                  <a:lnTo>
                    <a:pt x="8261223" y="25400"/>
                  </a:lnTo>
                  <a:lnTo>
                    <a:pt x="8261223" y="0"/>
                  </a:lnTo>
                  <a:cubicBezTo>
                    <a:pt x="8808974" y="0"/>
                    <a:pt x="9253220" y="442595"/>
                    <a:pt x="9253220" y="988822"/>
                  </a:cubicBezTo>
                  <a:lnTo>
                    <a:pt x="9227820" y="988822"/>
                  </a:lnTo>
                  <a:lnTo>
                    <a:pt x="9253220" y="988822"/>
                  </a:lnTo>
                  <a:lnTo>
                    <a:pt x="9253220" y="4842637"/>
                  </a:lnTo>
                  <a:lnTo>
                    <a:pt x="9227820" y="4842637"/>
                  </a:lnTo>
                  <a:lnTo>
                    <a:pt x="9253220" y="4842637"/>
                  </a:lnTo>
                  <a:cubicBezTo>
                    <a:pt x="9253220" y="5388864"/>
                    <a:pt x="8808974" y="5831459"/>
                    <a:pt x="8261223" y="5831459"/>
                  </a:cubicBezTo>
                  <a:lnTo>
                    <a:pt x="8261223" y="5806059"/>
                  </a:lnTo>
                  <a:lnTo>
                    <a:pt x="8261223" y="5831459"/>
                  </a:lnTo>
                  <a:lnTo>
                    <a:pt x="991997" y="5831459"/>
                  </a:lnTo>
                  <a:lnTo>
                    <a:pt x="991997" y="5806059"/>
                  </a:lnTo>
                  <a:lnTo>
                    <a:pt x="991997" y="5831459"/>
                  </a:lnTo>
                  <a:cubicBezTo>
                    <a:pt x="444246" y="5831586"/>
                    <a:pt x="0" y="5388864"/>
                    <a:pt x="0" y="4842637"/>
                  </a:cubicBezTo>
                  <a:lnTo>
                    <a:pt x="0" y="988822"/>
                  </a:lnTo>
                  <a:lnTo>
                    <a:pt x="25400" y="988822"/>
                  </a:lnTo>
                  <a:lnTo>
                    <a:pt x="0" y="988822"/>
                  </a:lnTo>
                  <a:moveTo>
                    <a:pt x="50800" y="988822"/>
                  </a:moveTo>
                  <a:lnTo>
                    <a:pt x="50800" y="4842637"/>
                  </a:lnTo>
                  <a:lnTo>
                    <a:pt x="25400" y="4842637"/>
                  </a:lnTo>
                  <a:lnTo>
                    <a:pt x="50800" y="4842637"/>
                  </a:lnTo>
                  <a:cubicBezTo>
                    <a:pt x="50800" y="5360670"/>
                    <a:pt x="472059" y="5780659"/>
                    <a:pt x="991997" y="5780659"/>
                  </a:cubicBezTo>
                  <a:lnTo>
                    <a:pt x="8261223" y="5780659"/>
                  </a:lnTo>
                  <a:cubicBezTo>
                    <a:pt x="8781161" y="5780659"/>
                    <a:pt x="9202420" y="5360543"/>
                    <a:pt x="9202420" y="4842637"/>
                  </a:cubicBezTo>
                  <a:lnTo>
                    <a:pt x="9202420" y="988822"/>
                  </a:lnTo>
                  <a:cubicBezTo>
                    <a:pt x="9202420" y="470916"/>
                    <a:pt x="8781034" y="50800"/>
                    <a:pt x="8261223" y="50800"/>
                  </a:cubicBezTo>
                  <a:lnTo>
                    <a:pt x="991997" y="50800"/>
                  </a:lnTo>
                  <a:lnTo>
                    <a:pt x="991997" y="25400"/>
                  </a:lnTo>
                  <a:lnTo>
                    <a:pt x="991997" y="50800"/>
                  </a:lnTo>
                  <a:cubicBezTo>
                    <a:pt x="472059" y="50800"/>
                    <a:pt x="50800" y="470916"/>
                    <a:pt x="50800" y="988822"/>
                  </a:cubicBezTo>
                  <a:close/>
                </a:path>
              </a:pathLst>
            </a:custGeom>
            <a:solidFill>
              <a:srgbClr val="0BD0D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926538" y="3063631"/>
            <a:ext cx="4377490" cy="780450"/>
            <a:chOff x="0" y="0"/>
            <a:chExt cx="5836653" cy="1040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93473" cy="1040600"/>
            </a:xfrm>
            <a:custGeom>
              <a:avLst/>
              <a:gdLst/>
              <a:ahLst/>
              <a:cxnLst/>
              <a:rect r="r" b="b" t="t" l="l"/>
              <a:pathLst>
                <a:path h="1040600" w="5793473">
                  <a:moveTo>
                    <a:pt x="0" y="0"/>
                  </a:moveTo>
                  <a:lnTo>
                    <a:pt x="5793473" y="0"/>
                  </a:lnTo>
                  <a:lnTo>
                    <a:pt x="5793473" y="1040600"/>
                  </a:lnTo>
                  <a:lnTo>
                    <a:pt x="0" y="104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287020" y="80010"/>
              <a:ext cx="5549633" cy="937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B54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Solution Approach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41249" y="5921131"/>
            <a:ext cx="5525538" cy="780450"/>
            <a:chOff x="0" y="0"/>
            <a:chExt cx="7367384" cy="1040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62304" cy="1040600"/>
            </a:xfrm>
            <a:custGeom>
              <a:avLst/>
              <a:gdLst/>
              <a:ahLst/>
              <a:cxnLst/>
              <a:rect r="r" b="b" t="t" l="l"/>
              <a:pathLst>
                <a:path h="1040600" w="7362304">
                  <a:moveTo>
                    <a:pt x="0" y="0"/>
                  </a:moveTo>
                  <a:lnTo>
                    <a:pt x="7362304" y="0"/>
                  </a:lnTo>
                  <a:lnTo>
                    <a:pt x="7362304" y="1040600"/>
                  </a:lnTo>
                  <a:lnTo>
                    <a:pt x="0" y="104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248920" y="92710"/>
              <a:ext cx="7118464" cy="937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B54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User Requirements Met 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854382" y="3751364"/>
            <a:ext cx="2803665" cy="593788"/>
          </a:xfrm>
          <a:custGeom>
            <a:avLst/>
            <a:gdLst/>
            <a:ahLst/>
            <a:cxnLst/>
            <a:rect r="r" b="b" t="t" l="l"/>
            <a:pathLst>
              <a:path h="593788" w="2803665">
                <a:moveTo>
                  <a:pt x="0" y="0"/>
                </a:moveTo>
                <a:lnTo>
                  <a:pt x="2803664" y="0"/>
                </a:lnTo>
                <a:lnTo>
                  <a:pt x="2803664" y="593789"/>
                </a:lnTo>
                <a:lnTo>
                  <a:pt x="0" y="5937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904807" y="6894614"/>
            <a:ext cx="2803665" cy="593788"/>
          </a:xfrm>
          <a:custGeom>
            <a:avLst/>
            <a:gdLst/>
            <a:ahLst/>
            <a:cxnLst/>
            <a:rect r="r" b="b" t="t" l="l"/>
            <a:pathLst>
              <a:path h="593788" w="2803665">
                <a:moveTo>
                  <a:pt x="0" y="0"/>
                </a:moveTo>
                <a:lnTo>
                  <a:pt x="2803665" y="0"/>
                </a:lnTo>
                <a:lnTo>
                  <a:pt x="2803665" y="593789"/>
                </a:lnTo>
                <a:lnTo>
                  <a:pt x="0" y="5937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2026792" y="756942"/>
            <a:ext cx="3247414" cy="3298514"/>
          </a:xfrm>
          <a:custGeom>
            <a:avLst/>
            <a:gdLst/>
            <a:ahLst/>
            <a:cxnLst/>
            <a:rect r="r" b="b" t="t" l="l"/>
            <a:pathLst>
              <a:path h="3298514" w="3247414">
                <a:moveTo>
                  <a:pt x="0" y="0"/>
                </a:moveTo>
                <a:lnTo>
                  <a:pt x="3247414" y="0"/>
                </a:lnTo>
                <a:lnTo>
                  <a:pt x="3247414" y="3298514"/>
                </a:lnTo>
                <a:lnTo>
                  <a:pt x="0" y="329851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7639530" y="6724076"/>
            <a:ext cx="3247414" cy="3298513"/>
          </a:xfrm>
          <a:custGeom>
            <a:avLst/>
            <a:gdLst/>
            <a:ahLst/>
            <a:cxnLst/>
            <a:rect r="r" b="b" t="t" l="l"/>
            <a:pathLst>
              <a:path h="3298513" w="3247414">
                <a:moveTo>
                  <a:pt x="0" y="0"/>
                </a:moveTo>
                <a:lnTo>
                  <a:pt x="3247415" y="0"/>
                </a:lnTo>
                <a:lnTo>
                  <a:pt x="3247415" y="3298513"/>
                </a:lnTo>
                <a:lnTo>
                  <a:pt x="0" y="32985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6838447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16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35630" y="233712"/>
            <a:ext cx="15416739" cy="1589976"/>
            <a:chOff x="0" y="0"/>
            <a:chExt cx="24059321" cy="248131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059324" cy="2481312"/>
            </a:xfrm>
            <a:custGeom>
              <a:avLst/>
              <a:gdLst/>
              <a:ahLst/>
              <a:cxnLst/>
              <a:rect r="r" b="b" t="t" l="l"/>
              <a:pathLst>
                <a:path h="2481312" w="24059324">
                  <a:moveTo>
                    <a:pt x="0" y="0"/>
                  </a:moveTo>
                  <a:lnTo>
                    <a:pt x="24059324" y="0"/>
                  </a:lnTo>
                  <a:lnTo>
                    <a:pt x="24059324" y="2481312"/>
                  </a:lnTo>
                  <a:lnTo>
                    <a:pt x="0" y="24813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461" r="6656" b="-13124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24059321" cy="2500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b="true" sz="3450">
                  <a:solidFill>
                    <a:srgbClr val="FEFE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DEMOGRAPHY-BASED ADVERTISEMENT RE</a:t>
              </a:r>
              <a:r>
                <a:rPr lang="en-US" b="true" sz="3450">
                  <a:solidFill>
                    <a:srgbClr val="FEFE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COMMENDATION ENGINE INCORPORATING SERENDIPITY AND DEMOGRAPHIC FILTERING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66901" y="3165005"/>
            <a:ext cx="6170248" cy="200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3"/>
              </a:lnSpc>
              <a:spcBef>
                <a:spcPct val="0"/>
              </a:spcBef>
            </a:pPr>
            <a:r>
              <a:rPr lang="en-US" sz="329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Reduces low engagement and ad fatigue caused by repetitive, demographic-blind advertisements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041847" y="4530481"/>
            <a:ext cx="6558283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Dem</a:t>
            </a: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ographic filtering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Hybrid recommendation framework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Serendipity injection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Cold-start handling using group-level demographic and behavioral inference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8180" y="6934514"/>
            <a:ext cx="6304531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394" indent="-377197" lvl="1">
              <a:lnSpc>
                <a:spcPts val="4193"/>
              </a:lnSpc>
              <a:buFont typeface="Arial"/>
              <a:buChar char="•"/>
            </a:pPr>
            <a:r>
              <a:rPr lang="en-US" sz="349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Relevant, non-repetitive ads</a:t>
            </a:r>
          </a:p>
          <a:p>
            <a:pPr algn="l" marL="754394" indent="-377197" lvl="1">
              <a:lnSpc>
                <a:spcPts val="4193"/>
              </a:lnSpc>
              <a:buFont typeface="Arial"/>
              <a:buChar char="•"/>
            </a:pPr>
            <a:r>
              <a:rPr lang="en-US" sz="349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Privacy-preserving </a:t>
            </a:r>
          </a:p>
          <a:p>
            <a:pPr algn="l" marL="754394" indent="-377197" lvl="1">
              <a:lnSpc>
                <a:spcPts val="4193"/>
              </a:lnSpc>
              <a:buFont typeface="Arial"/>
              <a:buChar char="•"/>
            </a:pPr>
            <a:r>
              <a:rPr lang="en-US" sz="349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Adapts to changing audiences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9440" r="-2568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2194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1/6/26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17085" y="-355517"/>
            <a:ext cx="19401080" cy="9915474"/>
          </a:xfrm>
          <a:custGeom>
            <a:avLst/>
            <a:gdLst/>
            <a:ahLst/>
            <a:cxnLst/>
            <a:rect r="r" b="b" t="t" l="l"/>
            <a:pathLst>
              <a:path h="9915474" w="19401080">
                <a:moveTo>
                  <a:pt x="0" y="0"/>
                </a:moveTo>
                <a:lnTo>
                  <a:pt x="19401079" y="0"/>
                </a:lnTo>
                <a:lnTo>
                  <a:pt x="19401079" y="9915474"/>
                </a:lnTo>
                <a:lnTo>
                  <a:pt x="0" y="9915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622" r="0" b="-4434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948655" y="9739312"/>
            <a:ext cx="10224545" cy="547688"/>
            <a:chOff x="0" y="0"/>
            <a:chExt cx="13632726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32731" cy="730250"/>
            </a:xfrm>
            <a:custGeom>
              <a:avLst/>
              <a:gdLst/>
              <a:ahLst/>
              <a:cxnLst/>
              <a:rect r="r" b="b" t="t" l="l"/>
              <a:pathLst>
                <a:path h="730250" w="13632731">
                  <a:moveTo>
                    <a:pt x="0" y="0"/>
                  </a:moveTo>
                  <a:lnTo>
                    <a:pt x="13632731" y="0"/>
                  </a:lnTo>
                  <a:lnTo>
                    <a:pt x="13632731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3757" r="0" b="-3137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363272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IT22071934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 </a:t>
              </a:r>
              <a:r>
                <a:rPr lang="en-US" sz="2700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Rajana H T R </a:t>
              </a: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| 25 – 26J- 091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838447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35630" y="233712"/>
            <a:ext cx="15416739" cy="1589976"/>
            <a:chOff x="0" y="0"/>
            <a:chExt cx="24059321" cy="24813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059324" cy="2481312"/>
            </a:xfrm>
            <a:custGeom>
              <a:avLst/>
              <a:gdLst/>
              <a:ahLst/>
              <a:cxnLst/>
              <a:rect r="r" b="b" t="t" l="l"/>
              <a:pathLst>
                <a:path h="2481312" w="24059324">
                  <a:moveTo>
                    <a:pt x="0" y="0"/>
                  </a:moveTo>
                  <a:lnTo>
                    <a:pt x="24059324" y="0"/>
                  </a:lnTo>
                  <a:lnTo>
                    <a:pt x="24059324" y="2481312"/>
                  </a:lnTo>
                  <a:lnTo>
                    <a:pt x="0" y="24813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461" r="6656" b="-13124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4059321" cy="2500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b="true" sz="3450">
                  <a:solidFill>
                    <a:srgbClr val="FEFE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DEMOGRAPHY-BASED ADVERTISEMENT RE</a:t>
              </a:r>
              <a:r>
                <a:rPr lang="en-US" b="true" sz="3450">
                  <a:solidFill>
                    <a:srgbClr val="FEFE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COMMENDATION ENGINE INCORPORATING SERENDIPITY AND DEMOGRAPHIC FILTERING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1037" y="3105836"/>
            <a:ext cx="487231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Hybrid rec</a:t>
            </a:r>
            <a:r>
              <a:rPr lang="en-US" sz="30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ommendation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78336" y="6403629"/>
            <a:ext cx="450773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30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Serendipity-aware logic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54681" y="2533009"/>
            <a:ext cx="592097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30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sz="30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old-start resilient logic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45955" y="6403629"/>
            <a:ext cx="485604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30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Re</a:t>
            </a:r>
            <a:r>
              <a:rPr lang="en-US" sz="30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al-time ready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2590" y="2017862"/>
            <a:ext cx="1105923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B3EAF2"/>
                </a:solidFill>
                <a:latin typeface="Cambria Bold"/>
                <a:ea typeface="Cambria Bold"/>
                <a:cs typeface="Cambria Bold"/>
                <a:sym typeface="Cambria Bold"/>
              </a:rPr>
              <a:t>Design Excellence / Technical Contribution</a:t>
            </a:r>
          </a:p>
          <a:p>
            <a:pPr algn="ctr">
              <a:lnSpc>
                <a:spcPts val="5040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6664619" y="5799590"/>
            <a:ext cx="3247414" cy="3298514"/>
          </a:xfrm>
          <a:custGeom>
            <a:avLst/>
            <a:gdLst/>
            <a:ahLst/>
            <a:cxnLst/>
            <a:rect r="r" b="b" t="t" l="l"/>
            <a:pathLst>
              <a:path h="3298514" w="3247414">
                <a:moveTo>
                  <a:pt x="0" y="0"/>
                </a:moveTo>
                <a:lnTo>
                  <a:pt x="3247414" y="0"/>
                </a:lnTo>
                <a:lnTo>
                  <a:pt x="3247414" y="3298513"/>
                </a:lnTo>
                <a:lnTo>
                  <a:pt x="0" y="32985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02590" y="4431954"/>
            <a:ext cx="5319222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Combined C</a:t>
            </a: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ollaborative, content-based, and demographic filtering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53454" y="3688187"/>
            <a:ext cx="5319222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Dem</a:t>
            </a: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ographic and behavioral inference enables effective targeting without prior user history.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67844" y="7337084"/>
            <a:ext cx="5319222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In</a:t>
            </a: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troduces controlled novelty to prevent repetitive advertisements.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32788" y="7463369"/>
            <a:ext cx="531922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esigned for adaptive operation in dynamic mall environments.</a:t>
            </a:r>
          </a:p>
        </p:txBody>
      </p:sp>
      <p:sp>
        <p:nvSpPr>
          <p:cNvPr name="Freeform 22" id="22" descr="A person looking up at a sign  AI-generated content may be incorrect."/>
          <p:cNvSpPr/>
          <p:nvPr/>
        </p:nvSpPr>
        <p:spPr>
          <a:xfrm flipH="false" flipV="false" rot="0">
            <a:off x="7442748" y="3037834"/>
            <a:ext cx="2689769" cy="3168629"/>
          </a:xfrm>
          <a:custGeom>
            <a:avLst/>
            <a:gdLst/>
            <a:ahLst/>
            <a:cxnLst/>
            <a:rect r="r" b="b" t="t" l="l"/>
            <a:pathLst>
              <a:path h="3168629" w="2689769">
                <a:moveTo>
                  <a:pt x="0" y="0"/>
                </a:moveTo>
                <a:lnTo>
                  <a:pt x="2689769" y="0"/>
                </a:lnTo>
                <a:lnTo>
                  <a:pt x="2689769" y="3168630"/>
                </a:lnTo>
                <a:lnTo>
                  <a:pt x="0" y="31686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09" t="0" r="-309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cture containing photo, table, person, monitor  Description automatically generated"/>
          <p:cNvSpPr/>
          <p:nvPr/>
        </p:nvSpPr>
        <p:spPr>
          <a:xfrm flipH="false" flipV="false" rot="0">
            <a:off x="0" y="9559957"/>
            <a:ext cx="3771900" cy="735463"/>
          </a:xfrm>
          <a:custGeom>
            <a:avLst/>
            <a:gdLst/>
            <a:ahLst/>
            <a:cxnLst/>
            <a:rect r="r" b="b" t="t" l="l"/>
            <a:pathLst>
              <a:path h="735463" w="3771900">
                <a:moveTo>
                  <a:pt x="0" y="0"/>
                </a:moveTo>
                <a:lnTo>
                  <a:pt x="3771900" y="0"/>
                </a:lnTo>
                <a:lnTo>
                  <a:pt x="3771900" y="735463"/>
                </a:lnTo>
                <a:lnTo>
                  <a:pt x="0" y="735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9440" r="-2568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21940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1/6/26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17085" y="-355517"/>
            <a:ext cx="19401080" cy="9915474"/>
          </a:xfrm>
          <a:custGeom>
            <a:avLst/>
            <a:gdLst/>
            <a:ahLst/>
            <a:cxnLst/>
            <a:rect r="r" b="b" t="t" l="l"/>
            <a:pathLst>
              <a:path h="9915474" w="19401080">
                <a:moveTo>
                  <a:pt x="0" y="0"/>
                </a:moveTo>
                <a:lnTo>
                  <a:pt x="19401079" y="0"/>
                </a:lnTo>
                <a:lnTo>
                  <a:pt x="19401079" y="9915474"/>
                </a:lnTo>
                <a:lnTo>
                  <a:pt x="0" y="9915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622" r="0" b="-44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38447" y="9841601"/>
            <a:ext cx="14173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17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664619" y="5799590"/>
            <a:ext cx="3247414" cy="3298514"/>
          </a:xfrm>
          <a:custGeom>
            <a:avLst/>
            <a:gdLst/>
            <a:ahLst/>
            <a:cxnLst/>
            <a:rect r="r" b="b" t="t" l="l"/>
            <a:pathLst>
              <a:path h="3298514" w="3247414">
                <a:moveTo>
                  <a:pt x="0" y="0"/>
                </a:moveTo>
                <a:lnTo>
                  <a:pt x="3247414" y="0"/>
                </a:lnTo>
                <a:lnTo>
                  <a:pt x="3247414" y="3298513"/>
                </a:lnTo>
                <a:lnTo>
                  <a:pt x="0" y="32985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39578" y="3315762"/>
            <a:ext cx="7008843" cy="194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62"/>
              </a:lnSpc>
            </a:pPr>
            <a:r>
              <a:rPr lang="en-US" sz="8705" i="true">
                <a:solidFill>
                  <a:srgbClr val="ECF0F1"/>
                </a:solidFill>
                <a:latin typeface="Radley Italics"/>
                <a:ea typeface="Radley Italics"/>
                <a:cs typeface="Radley Italics"/>
                <a:sym typeface="Radley Italics"/>
              </a:rPr>
              <a:t>THANK YOU 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DAG9WXlhHbA</dc:identifier>
  <dcterms:modified xsi:type="dcterms:W3CDTF">2011-08-01T06:04:30Z</dcterms:modified>
  <cp:revision>1</cp:revision>
  <dc:title>PP1.pptx</dc:title>
</cp:coreProperties>
</file>