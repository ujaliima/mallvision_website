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 Bold" charset="1" panose="00000000000000000000"/>
      <p:regular r:id="rId16"/>
    </p:embeddedFont>
    <p:embeddedFont>
      <p:font typeface="Helvetica World Bold" charset="1" panose="020B0800040000020004"/>
      <p:regular r:id="rId17"/>
    </p:embeddedFont>
    <p:embeddedFont>
      <p:font typeface="Cambria Bold" charset="1" panose="02040803050406030204"/>
      <p:regular r:id="rId18"/>
    </p:embeddedFont>
    <p:embeddedFont>
      <p:font typeface="HK Grotesk" charset="1" panose="00000500000000000000"/>
      <p:regular r:id="rId19"/>
    </p:embeddedFont>
    <p:embeddedFont>
      <p:font typeface="HK Grotesk Semi-Bold" charset="1" panose="00000700000000000000"/>
      <p:regular r:id="rId20"/>
    </p:embeddedFont>
    <p:embeddedFont>
      <p:font typeface="Helvetica World" charset="1" panose="020B0500040000020004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  <p:embeddedFont>
      <p:font typeface="HK Grotesk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jpeg" Type="http://schemas.openxmlformats.org/officeDocument/2006/relationships/image"/><Relationship Id="rId7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458190">
            <a:off x="11686349" y="-4618502"/>
            <a:ext cx="12441387" cy="7588840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8FC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5400000">
            <a:off x="10606800" y="520208"/>
            <a:ext cx="7588870" cy="7588840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8FC5D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85305" y="988010"/>
            <a:ext cx="6242547" cy="624254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083" r="0" b="-2083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42089" y="1442354"/>
            <a:ext cx="9436657" cy="5536458"/>
            <a:chOff x="0" y="0"/>
            <a:chExt cx="12582209" cy="738194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12582209" cy="6392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7"/>
                </a:lnSpc>
              </a:pPr>
              <a:r>
                <a:rPr lang="en-US" b="true" sz="6825" spc="-170">
                  <a:solidFill>
                    <a:srgbClr val="B7E9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Smart Real-Time Age, Gender , Emotion and Behavior - Based </a:t>
              </a:r>
              <a:r>
                <a:rPr lang="en-US" b="true" sz="6825" spc="-170">
                  <a:solidFill>
                    <a:srgbClr val="B7E9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Advertising System for Sri Lankan Malls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420212"/>
              <a:ext cx="9630009" cy="961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59"/>
                </a:lnSpc>
              </a:pPr>
              <a:r>
                <a:rPr lang="en-US" b="true" sz="4199">
                  <a:solidFill>
                    <a:srgbClr val="B7E9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Using Custom-Built Models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761054" y="8417472"/>
            <a:ext cx="3145988" cy="73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B7E9FF"/>
                </a:solidFill>
                <a:latin typeface="Cambria Bold"/>
                <a:ea typeface="Cambria Bold"/>
                <a:cs typeface="Cambria Bold"/>
                <a:sym typeface="Cambria Bold"/>
              </a:rPr>
              <a:t>25-26J-091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4583022" y="-3071121"/>
            <a:ext cx="6178548" cy="3994324"/>
            <a:chOff x="0" y="0"/>
            <a:chExt cx="1190284" cy="769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0284" cy="769498"/>
            </a:xfrm>
            <a:custGeom>
              <a:avLst/>
              <a:gdLst/>
              <a:ahLst/>
              <a:cxnLst/>
              <a:rect r="r" b="b" t="t" l="l"/>
              <a:pathLst>
                <a:path h="769498" w="1190284">
                  <a:moveTo>
                    <a:pt x="0" y="0"/>
                  </a:moveTo>
                  <a:lnTo>
                    <a:pt x="1190284" y="0"/>
                  </a:lnTo>
                  <a:lnTo>
                    <a:pt x="1190284" y="769498"/>
                  </a:lnTo>
                  <a:lnTo>
                    <a:pt x="0" y="769498"/>
                  </a:lnTo>
                  <a:close/>
                </a:path>
              </a:pathLst>
            </a:custGeom>
            <a:solidFill>
              <a:srgbClr val="8FC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190284" cy="931423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35179" y="160679"/>
            <a:ext cx="13952821" cy="3670013"/>
            <a:chOff x="0" y="0"/>
            <a:chExt cx="18603762" cy="489335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967774" y="95250"/>
              <a:ext cx="17635988" cy="1942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091"/>
                </a:lnSpc>
              </a:pPr>
              <a:r>
                <a:rPr lang="en-US" b="true" sz="10083" spc="-252">
                  <a:solidFill>
                    <a:srgbClr val="B7E9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Problem Statement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077221"/>
              <a:ext cx="17635988" cy="81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1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7150" y="85725"/>
            <a:ext cx="2594142" cy="2594131"/>
            <a:chOff x="0" y="0"/>
            <a:chExt cx="3458856" cy="3458842"/>
          </a:xfrm>
        </p:grpSpPr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0" y="0"/>
              <a:ext cx="3458856" cy="3458842"/>
              <a:chOff x="0" y="0"/>
              <a:chExt cx="6350000" cy="63499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8FC5DC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94893" y="294886"/>
              <a:ext cx="2869069" cy="2869069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-15789" r="0" b="-15789"/>
                </a:stretch>
              </a:blipFill>
            </p:spPr>
          </p:sp>
        </p:grpSp>
      </p:grpSp>
      <p:grpSp>
        <p:nvGrpSpPr>
          <p:cNvPr name="Group 13" id="13"/>
          <p:cNvGrpSpPr/>
          <p:nvPr/>
        </p:nvGrpSpPr>
        <p:grpSpPr>
          <a:xfrm rot="0">
            <a:off x="457919" y="3551309"/>
            <a:ext cx="3257544" cy="1810606"/>
            <a:chOff x="0" y="0"/>
            <a:chExt cx="621258" cy="345307"/>
          </a:xfrm>
        </p:grpSpPr>
        <p:sp>
          <p:nvSpPr>
            <p:cNvPr name="Freeform 14" id="14" descr="A digital display in a mall  AI-generated content may be incorrect."/>
            <p:cNvSpPr/>
            <p:nvPr/>
          </p:nvSpPr>
          <p:spPr>
            <a:xfrm flipH="false" flipV="false" rot="0">
              <a:off x="0" y="0"/>
              <a:ext cx="621258" cy="345307"/>
            </a:xfrm>
            <a:custGeom>
              <a:avLst/>
              <a:gdLst/>
              <a:ahLst/>
              <a:cxnLst/>
              <a:rect r="r" b="b" t="t" l="l"/>
              <a:pathLst>
                <a:path h="345307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3"/>
              <a:stretch>
                <a:fillRect l="0" t="-43275" r="0" b="-4327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825890" y="3551309"/>
            <a:ext cx="3257544" cy="1810606"/>
            <a:chOff x="0" y="0"/>
            <a:chExt cx="621258" cy="3453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258" cy="345307"/>
            </a:xfrm>
            <a:custGeom>
              <a:avLst/>
              <a:gdLst/>
              <a:ahLst/>
              <a:cxnLst/>
              <a:rect r="r" b="b" t="t" l="l"/>
              <a:pathLst>
                <a:path h="345307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4"/>
              <a:stretch>
                <a:fillRect l="-875" t="0" r="-87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93861" y="3551309"/>
            <a:ext cx="3257544" cy="1810606"/>
            <a:chOff x="0" y="0"/>
            <a:chExt cx="621258" cy="3453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258" cy="345307"/>
            </a:xfrm>
            <a:custGeom>
              <a:avLst/>
              <a:gdLst/>
              <a:ahLst/>
              <a:cxnLst/>
              <a:rect r="r" b="b" t="t" l="l"/>
              <a:pathLst>
                <a:path h="345307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5"/>
              <a:stretch>
                <a:fillRect l="-875" t="0" r="-87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561833" y="3551309"/>
            <a:ext cx="3257544" cy="1810606"/>
            <a:chOff x="0" y="0"/>
            <a:chExt cx="621258" cy="3453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258" cy="345307"/>
            </a:xfrm>
            <a:custGeom>
              <a:avLst/>
              <a:gdLst/>
              <a:ahLst/>
              <a:cxnLst/>
              <a:rect r="r" b="b" t="t" l="l"/>
              <a:pathLst>
                <a:path h="345307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6"/>
              <a:stretch>
                <a:fillRect l="0" t="-13741" r="0" b="-1374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79960" y="5807411"/>
            <a:ext cx="4055219" cy="2376788"/>
            <a:chOff x="0" y="0"/>
            <a:chExt cx="5406959" cy="316905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1406925"/>
              <a:ext cx="5406959" cy="176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15"/>
                </a:lnSpc>
              </a:pPr>
              <a:r>
                <a:rPr lang="en-US" sz="2929" strike="noStrike" u="none">
                  <a:solidFill>
                    <a:srgbClr val="E0DED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Large retail malls use static advertising methods.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9525"/>
              <a:ext cx="5406959" cy="784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01"/>
                </a:lnSpc>
              </a:pPr>
              <a:r>
                <a:rPr lang="en-US" b="true" sz="3834" strike="noStrike" u="none">
                  <a:solidFill>
                    <a:srgbClr val="8FC5D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Context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29644" y="5807411"/>
            <a:ext cx="4059417" cy="2433938"/>
            <a:chOff x="0" y="0"/>
            <a:chExt cx="5412556" cy="324525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416450"/>
              <a:ext cx="5412556" cy="182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5"/>
                </a:lnSpc>
              </a:pPr>
              <a:r>
                <a:rPr lang="en-US" sz="3029" strike="noStrike" u="none">
                  <a:solidFill>
                    <a:srgbClr val="E0DED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Visitors and retailers engage with advertising systems.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5412556" cy="784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01"/>
                </a:lnSpc>
              </a:pPr>
              <a:r>
                <a:rPr lang="en-US" b="true" sz="3834" strike="noStrike" u="none">
                  <a:solidFill>
                    <a:srgbClr val="8FC5D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Stakeholders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81881" y="5807411"/>
            <a:ext cx="4059417" cy="2434741"/>
            <a:chOff x="0" y="0"/>
            <a:chExt cx="5412556" cy="3246321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1417521"/>
              <a:ext cx="5412556" cy="182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5"/>
                </a:lnSpc>
              </a:pPr>
              <a:r>
                <a:rPr lang="en-US" sz="3029" strike="noStrike" u="none">
                  <a:solidFill>
                    <a:srgbClr val="E0DED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Current ads lack personalization and audience insights.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5412556" cy="784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01"/>
                </a:lnSpc>
              </a:pPr>
              <a:r>
                <a:rPr lang="en-US" b="true" sz="3834" strike="noStrike" u="none">
                  <a:solidFill>
                    <a:srgbClr val="8FC5D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Observed Issues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836598" y="5836789"/>
            <a:ext cx="4061963" cy="2376788"/>
            <a:chOff x="0" y="0"/>
            <a:chExt cx="5415951" cy="316905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1406925"/>
              <a:ext cx="5415951" cy="176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15"/>
                </a:lnSpc>
              </a:pPr>
              <a:r>
                <a:rPr lang="en-US" sz="2929" strike="noStrike" u="none">
                  <a:solidFill>
                    <a:srgbClr val="E0DED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Poor experiences reduce ROI and decision-making effectiveness.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-9525"/>
              <a:ext cx="5415951" cy="784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01"/>
                </a:lnSpc>
              </a:pPr>
              <a:r>
                <a:rPr lang="en-US" b="true" sz="3834" strike="noStrike" u="none">
                  <a:solidFill>
                    <a:srgbClr val="8FC5D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Why It Matters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5868688" y="4351765"/>
            <a:ext cx="7402737" cy="4710852"/>
            <a:chOff x="0" y="0"/>
            <a:chExt cx="1251633" cy="796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1633" cy="796497"/>
            </a:xfrm>
            <a:custGeom>
              <a:avLst/>
              <a:gdLst/>
              <a:ahLst/>
              <a:cxnLst/>
              <a:rect r="r" b="b" t="t" l="l"/>
              <a:pathLst>
                <a:path h="796497" w="1251633">
                  <a:moveTo>
                    <a:pt x="0" y="0"/>
                  </a:moveTo>
                  <a:lnTo>
                    <a:pt x="1251633" y="0"/>
                  </a:lnTo>
                  <a:lnTo>
                    <a:pt x="1251633" y="796497"/>
                  </a:lnTo>
                  <a:lnTo>
                    <a:pt x="0" y="796497"/>
                  </a:lnTo>
                  <a:close/>
                </a:path>
              </a:pathLst>
            </a:custGeom>
            <a:solidFill>
              <a:srgbClr val="8FC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251633" cy="958422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4859" y="5859391"/>
            <a:ext cx="3390665" cy="3390651"/>
            <a:chOff x="0" y="0"/>
            <a:chExt cx="4520886" cy="4520868"/>
          </a:xfrm>
        </p:grpSpPr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0" y="0"/>
              <a:ext cx="4520886" cy="4520868"/>
              <a:chOff x="0" y="0"/>
              <a:chExt cx="6350000" cy="63499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8FC5DC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84419" y="284410"/>
              <a:ext cx="3952047" cy="3952047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999" t="0" r="-24999" b="0"/>
                </a:stretch>
              </a:blip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929795" y="1643093"/>
            <a:ext cx="12354068" cy="3864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  <a:spcBef>
                <a:spcPct val="0"/>
              </a:spcBef>
            </a:pPr>
            <a:r>
              <a:rPr lang="en-US" b="true" sz="4649" spc="-11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Existing systems lack:</a:t>
            </a: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  <a:p>
            <a:pPr algn="l" marL="982281" indent="-491140" lvl="1">
              <a:lnSpc>
                <a:spcPts val="5004"/>
              </a:lnSpc>
              <a:buFont typeface="Arial"/>
              <a:buChar char="•"/>
            </a:pPr>
            <a:r>
              <a:rPr lang="en-US" sz="4549" spc="-1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Real-time demographic adaptation</a:t>
            </a:r>
          </a:p>
          <a:p>
            <a:pPr algn="l" marL="982281" indent="-491140" lvl="1">
              <a:lnSpc>
                <a:spcPts val="5004"/>
              </a:lnSpc>
              <a:buFont typeface="Arial"/>
              <a:buChar char="•"/>
            </a:pPr>
            <a:r>
              <a:rPr lang="en-US" sz="4549" spc="-1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Emotion-aware engagement modeling</a:t>
            </a:r>
          </a:p>
          <a:p>
            <a:pPr algn="l" marL="982281" indent="-491140" lvl="1">
              <a:lnSpc>
                <a:spcPts val="5004"/>
              </a:lnSpc>
              <a:buFont typeface="Arial"/>
              <a:buChar char="•"/>
            </a:pPr>
            <a:r>
              <a:rPr lang="en-US" sz="4549" spc="-1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Behavior-driven ad switching</a:t>
            </a:r>
          </a:p>
          <a:p>
            <a:pPr algn="l" marL="982281" indent="-491140" lvl="1">
              <a:lnSpc>
                <a:spcPts val="5004"/>
              </a:lnSpc>
              <a:buFont typeface="Arial"/>
              <a:buChar char="•"/>
            </a:pPr>
            <a:r>
              <a:rPr lang="en-US" sz="4549" spc="-1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Sri Lankan demographic optimization</a:t>
            </a:r>
          </a:p>
        </p:txBody>
      </p:sp>
      <p:grpSp>
        <p:nvGrpSpPr>
          <p:cNvPr name="Group 11" id="11"/>
          <p:cNvGrpSpPr/>
          <p:nvPr/>
        </p:nvGrpSpPr>
        <p:grpSpPr>
          <a:xfrm rot="-10800000">
            <a:off x="8596973" y="6141682"/>
            <a:ext cx="9288049" cy="2851185"/>
            <a:chOff x="0" y="0"/>
            <a:chExt cx="1365264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5264" cy="419100"/>
            </a:xfrm>
            <a:custGeom>
              <a:avLst/>
              <a:gdLst/>
              <a:ahLst/>
              <a:cxnLst/>
              <a:rect r="r" b="b" t="t" l="l"/>
              <a:pathLst>
                <a:path h="419100" w="1365264">
                  <a:moveTo>
                    <a:pt x="15629" y="0"/>
                  </a:moveTo>
                  <a:lnTo>
                    <a:pt x="1135705" y="0"/>
                  </a:lnTo>
                  <a:cubicBezTo>
                    <a:pt x="1270333" y="0"/>
                    <a:pt x="1365264" y="93819"/>
                    <a:pt x="1365264" y="209550"/>
                  </a:cubicBezTo>
                  <a:cubicBezTo>
                    <a:pt x="1365264" y="325281"/>
                    <a:pt x="1270333" y="419100"/>
                    <a:pt x="1135705" y="419100"/>
                  </a:cubicBezTo>
                  <a:lnTo>
                    <a:pt x="15629" y="419100"/>
                  </a:lnTo>
                  <a:cubicBezTo>
                    <a:pt x="11484" y="419100"/>
                    <a:pt x="7509" y="417453"/>
                    <a:pt x="4578" y="414522"/>
                  </a:cubicBezTo>
                  <a:cubicBezTo>
                    <a:pt x="1647" y="411591"/>
                    <a:pt x="0" y="407616"/>
                    <a:pt x="0" y="403471"/>
                  </a:cubicBezTo>
                  <a:lnTo>
                    <a:pt x="0" y="15629"/>
                  </a:lnTo>
                  <a:cubicBezTo>
                    <a:pt x="0" y="11484"/>
                    <a:pt x="1647" y="7509"/>
                    <a:pt x="4578" y="4578"/>
                  </a:cubicBezTo>
                  <a:cubicBezTo>
                    <a:pt x="7509" y="1647"/>
                    <a:pt x="11484" y="0"/>
                    <a:pt x="15629" y="0"/>
                  </a:cubicBezTo>
                  <a:close/>
                </a:path>
              </a:pathLst>
            </a:custGeom>
            <a:solidFill>
              <a:srgbClr val="D8EB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5400" y="-19050"/>
              <a:ext cx="1136664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482673" y="194048"/>
            <a:ext cx="9602379" cy="14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32"/>
              </a:lnSpc>
            </a:pPr>
            <a:r>
              <a:rPr lang="en-US" b="true" sz="9848" spc="-246">
                <a:solidFill>
                  <a:srgbClr val="B7E9FF"/>
                </a:solidFill>
                <a:latin typeface="Garet Bold"/>
                <a:ea typeface="Garet Bold"/>
                <a:cs typeface="Garet Bold"/>
                <a:sym typeface="Garet Bold"/>
              </a:rPr>
              <a:t>Research Gap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72160" y="6280555"/>
            <a:ext cx="8279725" cy="241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  <a:spcBef>
                <a:spcPct val="0"/>
              </a:spcBef>
            </a:pPr>
            <a:r>
              <a:rPr lang="en-US" b="true" sz="3439" spc="-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Objective</a:t>
            </a:r>
          </a:p>
          <a:p>
            <a:pPr algn="ctr">
              <a:lnSpc>
                <a:spcPts val="2353"/>
              </a:lnSpc>
              <a:spcBef>
                <a:spcPct val="0"/>
              </a:spcBef>
            </a:pPr>
          </a:p>
          <a:p>
            <a:pPr algn="l">
              <a:lnSpc>
                <a:spcPts val="3233"/>
              </a:lnSpc>
              <a:spcBef>
                <a:spcPct val="0"/>
              </a:spcBef>
            </a:pPr>
            <a:r>
              <a:rPr lang="en-US" sz="2939" spc="-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develop a real-time  adaptive advertising system that detects age, emotion, behavior and object detection with ≥70% validated accuracy and switches ads within 10 seconds.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77846" y="2707338"/>
            <a:ext cx="4028851" cy="2519502"/>
            <a:chOff x="0" y="0"/>
            <a:chExt cx="542994" cy="3395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2994" cy="339569"/>
            </a:xfrm>
            <a:custGeom>
              <a:avLst/>
              <a:gdLst/>
              <a:ahLst/>
              <a:cxnLst/>
              <a:rect r="r" b="b" t="t" l="l"/>
              <a:pathLst>
                <a:path h="339569" w="542994">
                  <a:moveTo>
                    <a:pt x="0" y="0"/>
                  </a:moveTo>
                  <a:lnTo>
                    <a:pt x="542994" y="0"/>
                  </a:lnTo>
                  <a:lnTo>
                    <a:pt x="542994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2"/>
              <a:stretch>
                <a:fillRect l="-7241" t="0" r="-724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96743" y="2659713"/>
            <a:ext cx="3820173" cy="2425050"/>
            <a:chOff x="0" y="0"/>
            <a:chExt cx="12487910" cy="7927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87910" cy="7927340"/>
            </a:xfrm>
            <a:custGeom>
              <a:avLst/>
              <a:gdLst/>
              <a:ahLst/>
              <a:cxnLst/>
              <a:rect r="r" b="b" t="t" l="l"/>
              <a:pathLst>
                <a:path h="7927340" w="12487910">
                  <a:moveTo>
                    <a:pt x="0" y="0"/>
                  </a:moveTo>
                  <a:lnTo>
                    <a:pt x="12487910" y="0"/>
                  </a:lnTo>
                  <a:lnTo>
                    <a:pt x="12487910" y="7927340"/>
                  </a:lnTo>
                  <a:lnTo>
                    <a:pt x="0" y="7927340"/>
                  </a:lnTo>
                  <a:close/>
                </a:path>
              </a:pathLst>
            </a:custGeom>
            <a:blipFill>
              <a:blip r:embed="rId3"/>
              <a:stretch>
                <a:fillRect l="-8105" t="0" r="-810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20793" y="1920705"/>
            <a:ext cx="5309049" cy="6534781"/>
            <a:chOff x="0" y="0"/>
            <a:chExt cx="635000" cy="781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781606"/>
            </a:xfrm>
            <a:custGeom>
              <a:avLst/>
              <a:gdLst/>
              <a:ahLst/>
              <a:cxnLst/>
              <a:rect r="r" b="b" t="t" l="l"/>
              <a:pathLst>
                <a:path h="781606" w="635000">
                  <a:moveTo>
                    <a:pt x="28481" y="0"/>
                  </a:moveTo>
                  <a:lnTo>
                    <a:pt x="606519" y="0"/>
                  </a:lnTo>
                  <a:cubicBezTo>
                    <a:pt x="614072" y="0"/>
                    <a:pt x="621317" y="3001"/>
                    <a:pt x="626658" y="8342"/>
                  </a:cubicBezTo>
                  <a:cubicBezTo>
                    <a:pt x="631999" y="13683"/>
                    <a:pt x="635000" y="20928"/>
                    <a:pt x="635000" y="28481"/>
                  </a:cubicBezTo>
                  <a:lnTo>
                    <a:pt x="635000" y="753125"/>
                  </a:lnTo>
                  <a:cubicBezTo>
                    <a:pt x="635000" y="760679"/>
                    <a:pt x="631999" y="767923"/>
                    <a:pt x="626658" y="773264"/>
                  </a:cubicBezTo>
                  <a:cubicBezTo>
                    <a:pt x="621317" y="778605"/>
                    <a:pt x="614072" y="781606"/>
                    <a:pt x="606519" y="781606"/>
                  </a:cubicBezTo>
                  <a:lnTo>
                    <a:pt x="28481" y="781606"/>
                  </a:lnTo>
                  <a:cubicBezTo>
                    <a:pt x="20928" y="781606"/>
                    <a:pt x="13683" y="778605"/>
                    <a:pt x="8342" y="773264"/>
                  </a:cubicBezTo>
                  <a:cubicBezTo>
                    <a:pt x="3001" y="767923"/>
                    <a:pt x="0" y="760679"/>
                    <a:pt x="0" y="753125"/>
                  </a:cubicBezTo>
                  <a:lnTo>
                    <a:pt x="0" y="28481"/>
                  </a:lnTo>
                  <a:cubicBezTo>
                    <a:pt x="0" y="20928"/>
                    <a:pt x="3001" y="13683"/>
                    <a:pt x="8342" y="8342"/>
                  </a:cubicBezTo>
                  <a:cubicBezTo>
                    <a:pt x="13683" y="3001"/>
                    <a:pt x="20928" y="0"/>
                    <a:pt x="28481" y="0"/>
                  </a:cubicBezTo>
                  <a:close/>
                </a:path>
              </a:pathLst>
            </a:custGeom>
            <a:solidFill>
              <a:srgbClr val="8FC5D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35000" cy="800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12373" y="5648965"/>
            <a:ext cx="5314285" cy="2731485"/>
            <a:chOff x="0" y="0"/>
            <a:chExt cx="7085713" cy="364198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460755"/>
              <a:ext cx="7085713" cy="218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7"/>
                </a:lnSpc>
              </a:pPr>
              <a:r>
                <a:rPr lang="en-US" sz="3606" strike="noStrike" u="none">
                  <a:solidFill>
                    <a:srgbClr val="E0E0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Ensures reliability, scalability, and privacy compliance.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0"/>
              <a:ext cx="7085713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4"/>
                </a:lnSpc>
              </a:pPr>
              <a:r>
                <a:rPr lang="en-US" b="true" sz="4020" strike="noStrike" u="none">
                  <a:solidFill>
                    <a:srgbClr val="E0E0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Non-Functional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30476" y="349601"/>
            <a:ext cx="12766291" cy="112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1"/>
              </a:lnSpc>
            </a:pPr>
            <a:r>
              <a:rPr lang="en-US" b="true" sz="7919" spc="-197">
                <a:solidFill>
                  <a:srgbClr val="B7E9FF"/>
                </a:solidFill>
                <a:latin typeface="Garet Bold"/>
                <a:ea typeface="Garet Bold"/>
                <a:cs typeface="Garet Bold"/>
                <a:sym typeface="Garet Bold"/>
              </a:rPr>
              <a:t>Solution Overview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996743" y="5601340"/>
            <a:ext cx="5429462" cy="2703495"/>
            <a:chOff x="0" y="0"/>
            <a:chExt cx="7239283" cy="360466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454624"/>
              <a:ext cx="7239283" cy="2150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20"/>
                </a:lnSpc>
              </a:pPr>
              <a:r>
                <a:rPr lang="en-US" sz="3516" strike="noStrike" u="none">
                  <a:solidFill>
                    <a:srgbClr val="E0E0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Personalized content based on user engagement metrics.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7239283" cy="78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27"/>
                </a:lnSpc>
              </a:pPr>
              <a:r>
                <a:rPr lang="en-US" b="true" sz="3855" strike="noStrike" u="none">
                  <a:solidFill>
                    <a:srgbClr val="E0E0E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Feature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3561" y="2052638"/>
            <a:ext cx="4959300" cy="61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716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real-time system that analyzes audience demographics, emotions, and engagement to dynamically display personalized advertisements while detecting suspicious activities for mall security.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35243" y="1447769"/>
          <a:ext cx="16440906" cy="7831875"/>
        </p:xfrm>
        <a:graphic>
          <a:graphicData uri="http://schemas.openxmlformats.org/drawingml/2006/table">
            <a:tbl>
              <a:tblPr/>
              <a:tblGrid>
                <a:gridCol w="6141317"/>
                <a:gridCol w="6141317"/>
                <a:gridCol w="4158271"/>
              </a:tblGrid>
              <a:tr h="14150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879"/>
                        </a:lnSpc>
                        <a:defRPr/>
                      </a:pPr>
                      <a:r>
                        <a:rPr lang="en-US" sz="4199" b="true">
                          <a:solidFill>
                            <a:srgbClr val="FFFFFF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Module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879"/>
                        </a:lnSpc>
                        <a:defRPr/>
                      </a:pPr>
                      <a:r>
                        <a:rPr lang="en-US" sz="4199" b="true">
                          <a:solidFill>
                            <a:srgbClr val="FFFFFF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Evaluation 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879"/>
                        </a:lnSpc>
                        <a:defRPr/>
                      </a:pPr>
                      <a:r>
                        <a:rPr lang="en-US" sz="4199" b="true">
                          <a:solidFill>
                            <a:srgbClr val="FFFFFF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60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Age /Gender Classification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87%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04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Emotion Recognition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71%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04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Audience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Detection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04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Engagement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Attention Detection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87%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9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Advertisement Recommendation Engine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Recommendation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72%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30476" y="349601"/>
            <a:ext cx="12766291" cy="109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1"/>
              </a:lnSpc>
            </a:pPr>
            <a:r>
              <a:rPr lang="en-US" b="true" sz="7719" spc="-192">
                <a:solidFill>
                  <a:srgbClr val="B7E9FF"/>
                </a:solidFill>
                <a:latin typeface="Garet Bold"/>
                <a:ea typeface="Garet Bold"/>
                <a:cs typeface="Garet Bold"/>
                <a:sym typeface="Garet Bold"/>
              </a:rPr>
              <a:t>Evaluation Matrics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5</a:t>
            </a:r>
          </a:p>
        </p:txBody>
      </p:sp>
      <p:grpSp>
        <p:nvGrpSpPr>
          <p:cNvPr name="Group 6" id="6"/>
          <p:cNvGrpSpPr/>
          <p:nvPr/>
        </p:nvGrpSpPr>
        <p:grpSpPr>
          <a:xfrm rot="2058190">
            <a:off x="12316164" y="-5116747"/>
            <a:ext cx="7402737" cy="4710852"/>
            <a:chOff x="0" y="0"/>
            <a:chExt cx="1251633" cy="7964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1633" cy="796497"/>
            </a:xfrm>
            <a:custGeom>
              <a:avLst/>
              <a:gdLst/>
              <a:ahLst/>
              <a:cxnLst/>
              <a:rect r="r" b="b" t="t" l="l"/>
              <a:pathLst>
                <a:path h="796497" w="1251633">
                  <a:moveTo>
                    <a:pt x="0" y="0"/>
                  </a:moveTo>
                  <a:lnTo>
                    <a:pt x="1251633" y="0"/>
                  </a:lnTo>
                  <a:lnTo>
                    <a:pt x="1251633" y="796497"/>
                  </a:lnTo>
                  <a:lnTo>
                    <a:pt x="0" y="796497"/>
                  </a:lnTo>
                  <a:close/>
                </a:path>
              </a:pathLst>
            </a:custGeom>
            <a:solidFill>
              <a:srgbClr val="8FC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251633" cy="958422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86235" y="1256758"/>
            <a:ext cx="13115531" cy="7773484"/>
          </a:xfrm>
          <a:custGeom>
            <a:avLst/>
            <a:gdLst/>
            <a:ahLst/>
            <a:cxnLst/>
            <a:rect r="r" b="b" t="t" l="l"/>
            <a:pathLst>
              <a:path h="7773484" w="13115531">
                <a:moveTo>
                  <a:pt x="0" y="0"/>
                </a:moveTo>
                <a:lnTo>
                  <a:pt x="13115530" y="0"/>
                </a:lnTo>
                <a:lnTo>
                  <a:pt x="13115530" y="7773484"/>
                </a:lnTo>
                <a:lnTo>
                  <a:pt x="0" y="7773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65" r="-3918" b="-702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9882" y="230748"/>
            <a:ext cx="9306713" cy="97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94"/>
              </a:lnSpc>
            </a:pPr>
            <a:r>
              <a:rPr lang="en-US" b="true" sz="6903" spc="-172">
                <a:solidFill>
                  <a:srgbClr val="B7E9FF"/>
                </a:solidFill>
                <a:latin typeface="Garet Bold"/>
                <a:ea typeface="Garet Bold"/>
                <a:cs typeface="Garet Bold"/>
                <a:sym typeface="Garet Bold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5159139" y="-2227629"/>
            <a:ext cx="6397949" cy="2984403"/>
            <a:chOff x="0" y="0"/>
            <a:chExt cx="1155153" cy="538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5153" cy="538835"/>
            </a:xfrm>
            <a:custGeom>
              <a:avLst/>
              <a:gdLst/>
              <a:ahLst/>
              <a:cxnLst/>
              <a:rect r="r" b="b" t="t" l="l"/>
              <a:pathLst>
                <a:path h="538835" w="1155153">
                  <a:moveTo>
                    <a:pt x="0" y="0"/>
                  </a:moveTo>
                  <a:lnTo>
                    <a:pt x="1155153" y="0"/>
                  </a:lnTo>
                  <a:lnTo>
                    <a:pt x="1155153" y="538835"/>
                  </a:lnTo>
                  <a:lnTo>
                    <a:pt x="0" y="538835"/>
                  </a:lnTo>
                  <a:close/>
                </a:path>
              </a:pathLst>
            </a:custGeom>
            <a:solidFill>
              <a:srgbClr val="8FC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155153" cy="700760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2506" y="-26318"/>
            <a:ext cx="2326410" cy="2326401"/>
            <a:chOff x="0" y="0"/>
            <a:chExt cx="3101880" cy="3101868"/>
          </a:xfrm>
        </p:grpSpPr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0" y="0"/>
              <a:ext cx="3101880" cy="3101868"/>
              <a:chOff x="0" y="0"/>
              <a:chExt cx="6350000" cy="63499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8FC5DC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359435" y="287495"/>
              <a:ext cx="2383010" cy="238301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999" t="0" r="-24999" b="0"/>
                </a:stretch>
              </a:blip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-5400000">
            <a:off x="-661797" y="3995360"/>
            <a:ext cx="6441426" cy="3981972"/>
          </a:xfrm>
          <a:custGeom>
            <a:avLst/>
            <a:gdLst/>
            <a:ahLst/>
            <a:cxnLst/>
            <a:rect r="r" b="b" t="t" l="l"/>
            <a:pathLst>
              <a:path h="3981972" w="6441426">
                <a:moveTo>
                  <a:pt x="0" y="0"/>
                </a:moveTo>
                <a:lnTo>
                  <a:pt x="6441426" y="0"/>
                </a:lnTo>
                <a:lnTo>
                  <a:pt x="6441426" y="3981973"/>
                </a:lnTo>
                <a:lnTo>
                  <a:pt x="0" y="3981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66810" y="538480"/>
            <a:ext cx="12877741" cy="105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4"/>
              </a:lnSpc>
            </a:pPr>
            <a:r>
              <a:rPr lang="en-US" b="true" sz="7449" spc="-186">
                <a:solidFill>
                  <a:srgbClr val="B7E9FF"/>
                </a:solidFill>
                <a:latin typeface="Garet Bold"/>
                <a:ea typeface="Garet Bold"/>
                <a:cs typeface="Garet Bold"/>
                <a:sym typeface="Garet Bold"/>
              </a:rPr>
              <a:t>Commercialization Impact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400000">
            <a:off x="3717220" y="3995360"/>
            <a:ext cx="6441426" cy="3981972"/>
          </a:xfrm>
          <a:custGeom>
            <a:avLst/>
            <a:gdLst/>
            <a:ahLst/>
            <a:cxnLst/>
            <a:rect r="r" b="b" t="t" l="l"/>
            <a:pathLst>
              <a:path h="3981972" w="6441426">
                <a:moveTo>
                  <a:pt x="0" y="0"/>
                </a:moveTo>
                <a:lnTo>
                  <a:pt x="6441426" y="0"/>
                </a:lnTo>
                <a:lnTo>
                  <a:pt x="6441426" y="3981973"/>
                </a:lnTo>
                <a:lnTo>
                  <a:pt x="0" y="3981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8140355" y="3995360"/>
            <a:ext cx="6441426" cy="3981972"/>
          </a:xfrm>
          <a:custGeom>
            <a:avLst/>
            <a:gdLst/>
            <a:ahLst/>
            <a:cxnLst/>
            <a:rect r="r" b="b" t="t" l="l"/>
            <a:pathLst>
              <a:path h="3981972" w="6441426">
                <a:moveTo>
                  <a:pt x="0" y="0"/>
                </a:moveTo>
                <a:lnTo>
                  <a:pt x="6441426" y="0"/>
                </a:lnTo>
                <a:lnTo>
                  <a:pt x="6441426" y="3981973"/>
                </a:lnTo>
                <a:lnTo>
                  <a:pt x="0" y="3981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2592065" y="3995360"/>
            <a:ext cx="6441426" cy="3981972"/>
          </a:xfrm>
          <a:custGeom>
            <a:avLst/>
            <a:gdLst/>
            <a:ahLst/>
            <a:cxnLst/>
            <a:rect r="r" b="b" t="t" l="l"/>
            <a:pathLst>
              <a:path h="3981972" w="6441426">
                <a:moveTo>
                  <a:pt x="0" y="0"/>
                </a:moveTo>
                <a:lnTo>
                  <a:pt x="6441426" y="0"/>
                </a:lnTo>
                <a:lnTo>
                  <a:pt x="6441426" y="3981973"/>
                </a:lnTo>
                <a:lnTo>
                  <a:pt x="0" y="3981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709" y="3363114"/>
            <a:ext cx="4142415" cy="553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4"/>
              </a:lnSpc>
            </a:pPr>
          </a:p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Sri Lankan shopping malls</a:t>
            </a:r>
          </a:p>
          <a:p>
            <a:pPr algn="l">
              <a:lnSpc>
                <a:spcPts val="4384"/>
              </a:lnSpc>
            </a:pPr>
          </a:p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Retail advertising agencies</a:t>
            </a:r>
          </a:p>
          <a:p>
            <a:pPr algn="l">
              <a:lnSpc>
                <a:spcPts val="4384"/>
              </a:lnSpc>
            </a:pPr>
          </a:p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Digital signage providers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869" y="3096414"/>
            <a:ext cx="322409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b="true" sz="4053">
                <a:solidFill>
                  <a:srgbClr val="2323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</a:t>
            </a:r>
            <a:r>
              <a:rPr lang="en-US" b="true" sz="4053">
                <a:solidFill>
                  <a:srgbClr val="2323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rget Market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28895" y="4081651"/>
            <a:ext cx="4142415" cy="498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Real-t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demogr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phic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per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sonali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z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ati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on</a:t>
            </a:r>
          </a:p>
          <a:p>
            <a:pPr algn="l">
              <a:lnSpc>
                <a:spcPts val="4384"/>
              </a:lnSpc>
            </a:pPr>
          </a:p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Boo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 ROI</a:t>
            </a:r>
          </a:p>
          <a:p>
            <a:pPr algn="l">
              <a:lnSpc>
                <a:spcPts val="4384"/>
              </a:lnSpc>
            </a:pPr>
          </a:p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Loc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ly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tra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ine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  m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ode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</a:p>
          <a:p>
            <a:pPr algn="l">
              <a:lnSpc>
                <a:spcPts val="438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488228" y="3103868"/>
            <a:ext cx="289941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b="true" sz="4053">
                <a:solidFill>
                  <a:srgbClr val="2323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</a:t>
            </a:r>
            <a:r>
              <a:rPr lang="en-US" b="true" sz="4053">
                <a:solidFill>
                  <a:srgbClr val="2323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ey Benefits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4081651"/>
            <a:ext cx="3991749" cy="530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129" indent="-380065" lvl="1">
              <a:lnSpc>
                <a:spcPts val="4224"/>
              </a:lnSpc>
              <a:buFont typeface="Arial"/>
              <a:buChar char="•"/>
            </a:pP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UGREEN 2K 30FPS Webc</a:t>
            </a: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am</a:t>
            </a:r>
          </a:p>
          <a:p>
            <a:pPr algn="l">
              <a:lnSpc>
                <a:spcPts val="4224"/>
              </a:lnSpc>
            </a:pPr>
          </a:p>
          <a:p>
            <a:pPr algn="l" marL="760129" indent="-380065" lvl="1">
              <a:lnSpc>
                <a:spcPts val="4224"/>
              </a:lnSpc>
              <a:buFont typeface="Arial"/>
              <a:buChar char="•"/>
            </a:pP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No extr</a:t>
            </a: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</a:t>
            </a: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hardware &amp; Fits</a:t>
            </a: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exi</a:t>
            </a: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sti</a:t>
            </a: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ng </a:t>
            </a:r>
            <a:r>
              <a:rPr lang="en-US" sz="35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signage</a:t>
            </a:r>
          </a:p>
          <a:p>
            <a:pPr algn="l">
              <a:lnSpc>
                <a:spcPts val="4224"/>
              </a:lnSpc>
            </a:pPr>
          </a:p>
          <a:p>
            <a:pPr algn="l" marL="738538" indent="-369269" lvl="1">
              <a:lnSpc>
                <a:spcPts val="4104"/>
              </a:lnSpc>
              <a:buFont typeface="Arial"/>
              <a:buChar char="•"/>
            </a:pPr>
            <a:r>
              <a:rPr lang="en-US" sz="34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Affordable - </a:t>
            </a:r>
          </a:p>
          <a:p>
            <a:pPr algn="l">
              <a:lnSpc>
                <a:spcPts val="4104"/>
              </a:lnSpc>
            </a:pPr>
            <a:r>
              <a:rPr lang="en-US" sz="342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   LKR 45,000 </a:t>
            </a:r>
          </a:p>
          <a:p>
            <a:pPr algn="l">
              <a:lnSpc>
                <a:spcPts val="4224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063863" y="3153421"/>
            <a:ext cx="247007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b="true" sz="4053">
                <a:solidFill>
                  <a:srgbClr val="2323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</a:t>
            </a:r>
            <a:r>
              <a:rPr lang="en-US" b="true" sz="4053">
                <a:solidFill>
                  <a:srgbClr val="2323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esources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47329" y="4081651"/>
            <a:ext cx="4156435" cy="498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Pilot testing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in selected mall</a:t>
            </a:r>
          </a:p>
          <a:p>
            <a:pPr algn="l">
              <a:lnSpc>
                <a:spcPts val="4384"/>
              </a:lnSpc>
            </a:pPr>
          </a:p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Perform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ance v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alidation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study</a:t>
            </a:r>
          </a:p>
          <a:p>
            <a:pPr algn="l">
              <a:lnSpc>
                <a:spcPts val="4384"/>
              </a:lnSpc>
            </a:pPr>
          </a:p>
          <a:p>
            <a:pPr algn="l" marL="788819" indent="-394410" lvl="1">
              <a:lnSpc>
                <a:spcPts val="4384"/>
              </a:lnSpc>
              <a:buFont typeface="Arial"/>
              <a:buChar char="•"/>
            </a:pP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Cloud deployme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nt </a:t>
            </a:r>
            <a:r>
              <a:rPr lang="en-US" sz="365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scaling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38522" y="3153421"/>
            <a:ext cx="247233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b="true" sz="4053">
                <a:solidFill>
                  <a:srgbClr val="2323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  <a:r>
              <a:rPr lang="en-US" b="true" sz="4053">
                <a:solidFill>
                  <a:srgbClr val="23232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ext Steps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71631" y="-875374"/>
            <a:ext cx="3190563" cy="3190559"/>
            <a:chOff x="0" y="0"/>
            <a:chExt cx="4254084" cy="4254079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0" y="0"/>
              <a:ext cx="2948486" cy="2948475"/>
              <a:chOff x="0" y="0"/>
              <a:chExt cx="6350000" cy="634997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8FC5DC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355200" y="355194"/>
              <a:ext cx="3898884" cy="389888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0344" t="0" r="-10344" b="0"/>
                </a:stretch>
              </a:blip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88402" y="2732749"/>
            <a:ext cx="9179272" cy="5863847"/>
          </a:xfrm>
          <a:custGeom>
            <a:avLst/>
            <a:gdLst/>
            <a:ahLst/>
            <a:cxnLst/>
            <a:rect r="r" b="b" t="t" l="l"/>
            <a:pathLst>
              <a:path h="5863847" w="9179272">
                <a:moveTo>
                  <a:pt x="0" y="0"/>
                </a:moveTo>
                <a:lnTo>
                  <a:pt x="9179272" y="0"/>
                </a:lnTo>
                <a:lnTo>
                  <a:pt x="9179272" y="5863848"/>
                </a:lnTo>
                <a:lnTo>
                  <a:pt x="0" y="5863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11" t="-59131" r="-108915" b="-3092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6982" y="449281"/>
            <a:ext cx="7029339" cy="134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73"/>
              </a:lnSpc>
            </a:pPr>
            <a:r>
              <a:rPr lang="en-US" b="true" sz="9430" spc="-235">
                <a:solidFill>
                  <a:srgbClr val="B7E9FF"/>
                </a:solidFill>
                <a:latin typeface="Garet Bold"/>
                <a:ea typeface="Garet Bold"/>
                <a:cs typeface="Garet Bold"/>
                <a:sym typeface="Garet Bold"/>
              </a:rPr>
              <a:t>Demo Plan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070330" y="2732749"/>
            <a:ext cx="9141470" cy="5863847"/>
          </a:xfrm>
          <a:custGeom>
            <a:avLst/>
            <a:gdLst/>
            <a:ahLst/>
            <a:cxnLst/>
            <a:rect r="r" b="b" t="t" l="l"/>
            <a:pathLst>
              <a:path h="5863847" w="9141470">
                <a:moveTo>
                  <a:pt x="0" y="0"/>
                </a:moveTo>
                <a:lnTo>
                  <a:pt x="9141470" y="0"/>
                </a:lnTo>
                <a:lnTo>
                  <a:pt x="9141470" y="5863848"/>
                </a:lnTo>
                <a:lnTo>
                  <a:pt x="0" y="5863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9587" t="-59578" r="-8838" b="-3047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066186" y="-5330841"/>
            <a:ext cx="14838158" cy="12834592"/>
            <a:chOff x="0" y="0"/>
            <a:chExt cx="19784211" cy="17112789"/>
          </a:xfrm>
        </p:grpSpPr>
        <p:grpSp>
          <p:nvGrpSpPr>
            <p:cNvPr name="Group 3" id="3"/>
            <p:cNvGrpSpPr/>
            <p:nvPr/>
          </p:nvGrpSpPr>
          <p:grpSpPr>
            <a:xfrm rot="2058190">
              <a:off x="1277773" y="3552328"/>
              <a:ext cx="15480472" cy="9312228"/>
              <a:chOff x="0" y="0"/>
              <a:chExt cx="1395936" cy="83972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395936" cy="839721"/>
              </a:xfrm>
              <a:custGeom>
                <a:avLst/>
                <a:gdLst/>
                <a:ahLst/>
                <a:cxnLst/>
                <a:rect r="r" b="b" t="t" l="l"/>
                <a:pathLst>
                  <a:path h="839721" w="1395936">
                    <a:moveTo>
                      <a:pt x="0" y="0"/>
                    </a:moveTo>
                    <a:lnTo>
                      <a:pt x="1395936" y="0"/>
                    </a:lnTo>
                    <a:lnTo>
                      <a:pt x="1395936" y="839721"/>
                    </a:lnTo>
                    <a:lnTo>
                      <a:pt x="0" y="839721"/>
                    </a:lnTo>
                    <a:close/>
                  </a:path>
                </a:pathLst>
              </a:custGeom>
              <a:solidFill>
                <a:srgbClr val="8FC5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1395936" cy="1001646"/>
              </a:xfrm>
              <a:prstGeom prst="rect">
                <a:avLst/>
              </a:prstGeom>
            </p:spPr>
            <p:txBody>
              <a:bodyPr anchor="ctr" rtlCol="false" tIns="123349" lIns="123349" bIns="123349" rIns="123349"/>
              <a:lstStyle/>
              <a:p>
                <a:pPr algn="ctr" marL="0" indent="0" lvl="0">
                  <a:lnSpc>
                    <a:spcPts val="112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10373422" y="7702038"/>
              <a:ext cx="9410789" cy="9410751"/>
              <a:chOff x="0" y="0"/>
              <a:chExt cx="6350000" cy="63499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8FC5DC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11241124" y="8569721"/>
              <a:ext cx="7675385" cy="767538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-2083" r="0" b="-2083"/>
                </a:stretch>
              </a:blip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7244023" y="3502829"/>
            <a:ext cx="1001527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22"/>
              </a:lnSpc>
              <a:spcBef>
                <a:spcPct val="0"/>
              </a:spcBef>
            </a:pPr>
            <a:r>
              <a:rPr lang="en-US" b="true" sz="13851">
                <a:solidFill>
                  <a:srgbClr val="B7E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 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76608" y="9437455"/>
            <a:ext cx="18464608" cy="849545"/>
          </a:xfrm>
          <a:custGeom>
            <a:avLst/>
            <a:gdLst/>
            <a:ahLst/>
            <a:cxnLst/>
            <a:rect r="r" b="b" t="t" l="l"/>
            <a:pathLst>
              <a:path h="849545" w="18464608">
                <a:moveTo>
                  <a:pt x="0" y="0"/>
                </a:moveTo>
                <a:lnTo>
                  <a:pt x="18464608" y="0"/>
                </a:lnTo>
                <a:lnTo>
                  <a:pt x="18464608" y="849545"/>
                </a:lnTo>
                <a:lnTo>
                  <a:pt x="0" y="849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69606" y="9581240"/>
            <a:ext cx="258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60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Advertising System for Sri Lankan Malls</dc:description>
  <dc:identifier>DAHCl3D6S1A</dc:identifier>
  <dcterms:modified xsi:type="dcterms:W3CDTF">2011-08-01T06:04:30Z</dcterms:modified>
  <cp:revision>1</cp:revision>
  <dc:title>Presentation - Advertising System for Sri Lankan Malls</dc:title>
</cp:coreProperties>
</file>